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381" r:id="rId2"/>
    <p:sldId id="382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77CA3-21F5-DB4D-A51C-59FCCCA94B95}" v="19" dt="2024-10-22T11:59:23.9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5" autoAdjust="0"/>
    <p:restoredTop sz="95602"/>
  </p:normalViewPr>
  <p:slideViewPr>
    <p:cSldViewPr snapToGrid="0">
      <p:cViewPr varScale="1">
        <p:scale>
          <a:sx n="107" d="100"/>
          <a:sy n="107" d="100"/>
        </p:scale>
        <p:origin x="2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23EFF-32EB-5C4D-BAB5-94D763482FC4}" type="datetimeFigureOut">
              <a:rPr lang="en-US" smtClean="0"/>
              <a:t>10/22/24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48D3B-7840-4B46-98CF-6D68C3AA1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7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09000"/>
            <a:ext cx="10515600" cy="1440000"/>
          </a:xfrm>
        </p:spPr>
        <p:txBody>
          <a:bodyPr anchor="t">
            <a:noAutofit/>
          </a:bodyPr>
          <a:lstStyle>
            <a:lvl1pPr algn="ctr">
              <a:defRPr sz="36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Session Title</a:t>
            </a:r>
            <a:endParaRPr lang="ru-RU" dirty="0"/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800496"/>
            <a:ext cx="4367531" cy="432000"/>
          </a:xfrm>
        </p:spPr>
        <p:txBody>
          <a:bodyPr>
            <a:noAutofit/>
          </a:bodyPr>
          <a:lstStyle>
            <a:lvl1pPr marL="0" indent="0" algn="l">
              <a:buNone/>
              <a:defRPr sz="18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 Name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199" y="6232496"/>
            <a:ext cx="5492404" cy="324000"/>
          </a:xfrm>
        </p:spPr>
        <p:txBody>
          <a:bodyPr>
            <a:noAutofit/>
          </a:bodyPr>
          <a:lstStyle>
            <a:lvl1pPr marL="0" indent="0" algn="l">
              <a:buNone/>
              <a:defRPr sz="1350" b="1" i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Staff.Email@sunderland.ac.uk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782FE2-29A0-4B11-8020-9F198895C5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2143068"/>
            <a:ext cx="10515600" cy="457200"/>
          </a:xfrm>
        </p:spPr>
        <p:txBody>
          <a:bodyPr anchor="b"/>
          <a:lstStyle>
            <a:lvl1pPr marL="0" indent="0" algn="ctr">
              <a:buNone/>
              <a:defRPr b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CET### Module Title</a:t>
            </a:r>
            <a:endParaRPr lang="en-GB" dirty="0"/>
          </a:p>
        </p:txBody>
      </p:sp>
      <p:pic>
        <p:nvPicPr>
          <p:cNvPr id="22" name="Picture 21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F88C903-C2AF-446C-B7CC-C0B0CC1B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930" y="4566788"/>
            <a:ext cx="2002141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9755"/>
      </p:ext>
    </p:extLst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154878"/>
            <a:ext cx="10515600" cy="1293917"/>
          </a:xfrm>
        </p:spPr>
        <p:txBody>
          <a:bodyPr anchor="b">
            <a:normAutofit/>
          </a:bodyPr>
          <a:lstStyle>
            <a:lvl1pPr algn="l">
              <a:defRPr lang="ru-RU" sz="30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Section Title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1987" y="1510732"/>
            <a:ext cx="10515600" cy="324000"/>
          </a:xfrm>
        </p:spPr>
        <p:txBody>
          <a:bodyPr>
            <a:normAutofit/>
          </a:bodyPr>
          <a:lstStyle>
            <a:lvl1pPr marL="0" indent="0" algn="l">
              <a:buNone/>
              <a:defRPr sz="1350" b="1" i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Tagline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10BB4-D57E-4372-8E10-AC15DC09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0624-61F8-48B2-BD00-D3BC39DE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3CCE852-44EE-4F43-971D-6B48326E6B7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253569" y="2184671"/>
            <a:ext cx="3600003" cy="360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GB" sz="1050" dirty="0"/>
              <a:t> </a:t>
            </a:r>
            <a:endParaRPr lang="en-GB" dirty="0"/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9372CFE9-F496-4E97-A45A-9A4297AEBC5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95772" y="2544671"/>
            <a:ext cx="2880003" cy="288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GB" sz="1050" dirty="0"/>
              <a:t> </a:t>
            </a:r>
            <a:endParaRPr lang="en-GB" dirty="0"/>
          </a:p>
        </p:txBody>
      </p:sp>
      <p:sp>
        <p:nvSpPr>
          <p:cNvPr id="27" name="Picture Placeholder 14">
            <a:extLst>
              <a:ext uri="{FF2B5EF4-FFF2-40B4-BE49-F238E27FC236}">
                <a16:creationId xmlns:a16="http://schemas.microsoft.com/office/drawing/2014/main" id="{20A5271C-4663-454E-BA47-B29CD20EA31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431369" y="2544671"/>
            <a:ext cx="2880003" cy="288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GB" sz="105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505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2D517-045C-461A-A48E-BC5CB9C977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04938"/>
            <a:ext cx="10515600" cy="45386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241CCAFB-CC07-4AE2-9FD4-4D3EFA40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129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4B91177-A100-491C-B5EF-BC77E2E33F7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7" y="1369057"/>
            <a:ext cx="5184000" cy="421084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6758D2F-C9AC-4514-B48E-2863E8DDE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899198"/>
            <a:ext cx="5184000" cy="400283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33C3A9F-17E4-45DF-8DB7-7A55846AAA8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8212" y="1372233"/>
            <a:ext cx="5184000" cy="4179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19AB308-7C32-46C9-B8DB-AA96B7ED0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99198"/>
            <a:ext cx="5184000" cy="400283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16B36A83-EC10-4006-A780-D19B6B70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005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D5AE8A8-E027-4529-A5B7-4D355C71E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4937"/>
            <a:ext cx="5184000" cy="4538662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B3E4803-F2CA-4138-9997-6108BFDFE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9800" y="1404939"/>
            <a:ext cx="5184000" cy="4538663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3959C20-C118-4206-916E-1BE56661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8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A97CE06-9ECC-4438-8B22-B58B27F2B5F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33789" y="960877"/>
            <a:ext cx="4320000" cy="432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lang="ru-RU" sz="105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0142"/>
            <a:ext cx="5362211" cy="720000"/>
          </a:xfrm>
        </p:spPr>
        <p:txBody>
          <a:bodyPr>
            <a:normAutofit/>
          </a:bodyPr>
          <a:lstStyle>
            <a:lvl1pPr>
              <a:defRPr lang="en-US" sz="30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Text Layout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469DEB5-CC79-4D71-8360-0B10B34244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9" y="960877"/>
            <a:ext cx="5362211" cy="648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EE0722D-F13C-4FFB-9E31-CC024B92E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9" y="1608877"/>
            <a:ext cx="5362212" cy="4288246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742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D6E0F90B-941A-45B6-85DA-E0D4E7977CD8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7140003" y="937866"/>
            <a:ext cx="4320000" cy="432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lang="ru-RU" sz="105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99" y="217866"/>
            <a:ext cx="5364000" cy="72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Text Layout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2903A57-2768-42F8-A5EA-4C19B90498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1999" y="2311189"/>
            <a:ext cx="5364000" cy="3585934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5F10B1F7-5633-4C8B-A868-72D9C782CB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1999" y="943698"/>
            <a:ext cx="5364000" cy="648000"/>
          </a:xfrm>
        </p:spPr>
        <p:txBody>
          <a:bodyPr>
            <a:noAutofit/>
          </a:bodyPr>
          <a:lstStyle>
            <a:lvl1pPr marL="0" indent="0">
              <a:buNone/>
              <a:defRPr sz="1350" b="1" i="0">
                <a:solidFill>
                  <a:schemeClr val="tx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CBA9BCD0-48BA-4D5B-8871-61204EACE4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1999" y="1585865"/>
            <a:ext cx="5364000" cy="7200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6858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376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1653"/>
            <a:ext cx="10515600" cy="720000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DBBD-D278-4F5A-BD28-172F5B157E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199" y="1845132"/>
            <a:ext cx="5184000" cy="432000"/>
          </a:xfrm>
        </p:spPr>
        <p:txBody>
          <a:bodyPr>
            <a:noAutofit/>
          </a:bodyPr>
          <a:lstStyle>
            <a:lvl1pPr marL="0" indent="0">
              <a:buNone/>
              <a:defRPr sz="2100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087109"/>
            <a:ext cx="10515599" cy="6480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i="0">
                <a:solidFill>
                  <a:schemeClr val="accent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9803" y="1843076"/>
            <a:ext cx="5184000" cy="432000"/>
          </a:xfrm>
        </p:spPr>
        <p:txBody>
          <a:bodyPr>
            <a:noAutofit/>
          </a:bodyPr>
          <a:lstStyle>
            <a:lvl1pPr marL="0" indent="0">
              <a:buNone/>
              <a:defRPr sz="2100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D0525F80-1CD7-406E-A2B0-ACB0CD78A3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8199" y="2388078"/>
            <a:ext cx="5184000" cy="3492838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1"/>
              </a:buCl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69803" y="2383043"/>
            <a:ext cx="5184000" cy="3492838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1"/>
              </a:buCl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57CCBB-CB66-4C25-A9D5-6E43BD2113B3}"/>
              </a:ext>
            </a:extLst>
          </p:cNvPr>
          <p:cNvCxnSpPr>
            <a:cxnSpLocks/>
          </p:cNvCxnSpPr>
          <p:nvPr/>
        </p:nvCxnSpPr>
        <p:spPr>
          <a:xfrm>
            <a:off x="2496000" y="977084"/>
            <a:ext cx="7200000" cy="0"/>
          </a:xfrm>
          <a:prstGeom prst="line">
            <a:avLst/>
          </a:prstGeom>
          <a:ln w="127000" cap="rnd">
            <a:gradFill>
              <a:gsLst>
                <a:gs pos="0">
                  <a:srgbClr val="E9418F"/>
                </a:gs>
                <a:gs pos="100000">
                  <a:srgbClr val="E50150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95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218337"/>
            <a:ext cx="5364000" cy="720000"/>
          </a:xfrm>
        </p:spPr>
        <p:txBody>
          <a:bodyPr anchor="b">
            <a:normAutofit/>
          </a:bodyPr>
          <a:lstStyle>
            <a:lvl1pPr algn="l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5999" y="933458"/>
            <a:ext cx="5364000" cy="648000"/>
          </a:xfrm>
        </p:spPr>
        <p:txBody>
          <a:bodyPr>
            <a:noAutofit/>
          </a:bodyPr>
          <a:lstStyle>
            <a:lvl1pPr marL="0" indent="0" algn="l">
              <a:buNone/>
              <a:defRPr sz="1350" b="1" i="0">
                <a:solidFill>
                  <a:schemeClr val="tx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096000" y="183170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30%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2152862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9080FED-3BFC-4CCC-8B5A-A2942CA5CF3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096025" y="2771593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E7EC8229-D712-4FD1-990B-9212FC211A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25" y="3092752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7341020-DCB7-4CC5-BE55-AAAF421822E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979029" y="183170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1896019-AE20-47E2-AA66-ED9D16B2DA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79029" y="215286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12C49D2-92E0-4567-8BD4-9B8FC053670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7979053" y="277159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6B5DA211-72E1-4B00-AA61-980CE5A345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79054" y="309275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7CF7C63-619A-46EE-AF36-FCA26441A0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862085" y="183170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20%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92E0EA61-C10D-4760-B03F-F27BCF1FC2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62085" y="215286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A3A14FA-D9E9-4000-B30C-14CADBFE48F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862109" y="277159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5%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0FBCB607-92E0-4206-871B-10CAEB3377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62110" y="309275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08CD548A-F4DA-41C7-BC55-620C696D5A6A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07326" y="218339"/>
            <a:ext cx="5363999" cy="568369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Click icon to add chart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819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99" y="212033"/>
            <a:ext cx="10515600" cy="720000"/>
          </a:xfrm>
        </p:spPr>
        <p:txBody>
          <a:bodyPr anchor="b">
            <a:normAutofit/>
          </a:bodyPr>
          <a:lstStyle>
            <a:lvl1pPr algn="l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1999" y="948661"/>
            <a:ext cx="10515600" cy="381377"/>
          </a:xfrm>
        </p:spPr>
        <p:txBody>
          <a:bodyPr>
            <a:noAutofit/>
          </a:bodyPr>
          <a:lstStyle>
            <a:lvl1pPr marL="0" indent="0" algn="l">
              <a:buNone/>
              <a:defRPr sz="1350" b="1" i="0">
                <a:solidFill>
                  <a:schemeClr val="tx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3AF64257-E00C-4FE5-925B-A78911D1D2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731999" y="1418400"/>
            <a:ext cx="10515600" cy="4490941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224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and Title Sli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4CD599-5E69-43C3-ACD4-1C01FE3DEB6C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905907-66DE-4B3E-8C8B-AA5A21F8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31" y="6148537"/>
            <a:ext cx="10515600" cy="64800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GB" sz="1500" b="1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564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 Content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dia Placeholder 20">
            <a:extLst>
              <a:ext uri="{FF2B5EF4-FFF2-40B4-BE49-F238E27FC236}">
                <a16:creationId xmlns:a16="http://schemas.microsoft.com/office/drawing/2014/main" id="{BC4928A8-915E-47EC-A6FC-D85B53379D9B}"/>
              </a:ext>
            </a:extLst>
          </p:cNvPr>
          <p:cNvSpPr>
            <a:spLocks noGrp="1"/>
          </p:cNvSpPr>
          <p:nvPr>
            <p:ph type="media" sz="quarter" idx="14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3A926948-B9C1-4E84-AF0F-40965A13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35437"/>
            <a:ext cx="10515600" cy="64800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578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sli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30E6D-88C7-4DA3-9195-4088739A9B3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850440" y="3724277"/>
            <a:ext cx="1887537" cy="1870075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Profile </a:t>
            </a:r>
          </a:p>
          <a:p>
            <a:r>
              <a:rPr lang="en-GB" dirty="0"/>
              <a:t>Pic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F2681B-930A-4BFA-980C-EDEEA6407D41}"/>
              </a:ext>
            </a:extLst>
          </p:cNvPr>
          <p:cNvSpPr txBox="1"/>
          <p:nvPr/>
        </p:nvSpPr>
        <p:spPr>
          <a:xfrm>
            <a:off x="838200" y="159346"/>
            <a:ext cx="10515600" cy="74119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GB" sz="3000" b="1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5161" y="1260545"/>
            <a:ext cx="3924383" cy="1834034"/>
          </a:xfrm>
        </p:spPr>
        <p:txBody>
          <a:bodyPr>
            <a:normAutofit/>
          </a:bodyPr>
          <a:lstStyle>
            <a:lvl1pPr marL="257175" indent="-257175">
              <a:buClr>
                <a:schemeClr val="bg1"/>
              </a:buClr>
              <a:buFont typeface="Arial" panose="020B0604020202020204" pitchFamily="34" charset="0"/>
              <a:buChar char="•"/>
              <a:defRPr sz="135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5161" y="900544"/>
            <a:ext cx="3924383" cy="360000"/>
          </a:xfrm>
        </p:spPr>
        <p:txBody>
          <a:bodyPr>
            <a:noAutofit/>
          </a:bodyPr>
          <a:lstStyle>
            <a:lvl1pPr marL="0" indent="0" algn="l">
              <a:buNone/>
              <a:defRPr sz="1350" b="1" i="0"/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Next time…</a:t>
            </a:r>
          </a:p>
        </p:txBody>
      </p:sp>
      <p:pic>
        <p:nvPicPr>
          <p:cNvPr id="21" name="Picture 2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5AC4A37B-563A-4FB0-B7C3-7D1637C8A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930" y="5754224"/>
            <a:ext cx="2002141" cy="936000"/>
          </a:xfrm>
          <a:prstGeom prst="rect">
            <a:avLst/>
          </a:prstGeom>
        </p:spPr>
      </p:pic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B6F23C26-2E8B-42A2-8709-597C05B90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58964" y="3906981"/>
            <a:ext cx="4367531" cy="2880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 Name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06FDE94-664C-4E21-8F07-BF675294E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58964" y="4202640"/>
            <a:ext cx="4367531" cy="28800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Staff.Email@sunderland.ac.uk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1884E3-FF63-4268-9940-14C502ED1F70}"/>
              </a:ext>
            </a:extLst>
          </p:cNvPr>
          <p:cNvSpPr txBox="1"/>
          <p:nvPr/>
        </p:nvSpPr>
        <p:spPr>
          <a:xfrm>
            <a:off x="6869826" y="1598522"/>
            <a:ext cx="3924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WE ARE THE LIFE CHANGING</a:t>
            </a:r>
          </a:p>
          <a:p>
            <a:pPr algn="ctr"/>
            <a:r>
              <a:rPr lang="en-GB" sz="1800" b="1" dirty="0">
                <a:ln>
                  <a:solidFill>
                    <a:schemeClr val="tx1"/>
                  </a:solidFill>
                </a:ln>
                <a:latin typeface="Arial Narrow" panose="020B0606020202030204" pitchFamily="34" charset="0"/>
              </a:rPr>
              <a:t>UNIVERSITY OF SUNDERLAND</a:t>
            </a:r>
          </a:p>
        </p:txBody>
      </p:sp>
    </p:spTree>
    <p:extLst>
      <p:ext uri="{BB962C8B-B14F-4D97-AF65-F5344CB8AC3E}">
        <p14:creationId xmlns:p14="http://schemas.microsoft.com/office/powerpoint/2010/main" val="136216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8E328517-DD21-40E0-B948-B25B366BD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58201" y="819495"/>
            <a:ext cx="6644051" cy="4695906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2"/>
            <a:ext cx="3932237" cy="144272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19994"/>
            <a:ext cx="3932237" cy="3848994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4C2DA-55FA-460C-9DAB-46819513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E61DCD5-C727-4C41-8A62-5FAC7F0C2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7AF2C7-93FB-4B39-A274-71C693F2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13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2"/>
            <a:ext cx="3932237" cy="1442729"/>
          </a:xfrm>
        </p:spPr>
        <p:txBody>
          <a:bodyPr anchor="b"/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11682"/>
            <a:ext cx="3932237" cy="3857307"/>
          </a:xfrm>
        </p:spPr>
        <p:txBody>
          <a:bodyPr>
            <a:normAutofit/>
          </a:bodyPr>
          <a:lstStyle>
            <a:lvl1pPr marL="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5763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</a:t>
            </a:r>
            <a:r>
              <a:rPr lang="en-US"/>
              <a:t>text styles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28A6791-A2CB-40CE-AEF5-A729106D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457201"/>
            <a:ext cx="6653212" cy="54038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37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7E1754DE-7B99-43C7-934C-47188CF8D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B0D48-69B4-4AA9-B169-29464509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06BAA1-9681-499B-8290-E5768947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4C0351-EA09-4331-BE31-11F9C1611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4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01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4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49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6423D6-B74A-44F7-92D4-30A29D8C8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0"/>
            <a:ext cx="10598151" cy="68580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1pPr>
            <a:lvl2pPr marL="1674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2pPr>
            <a:lvl3pPr marL="3348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3pPr>
            <a:lvl4pPr marL="5022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4pPr>
            <a:lvl5pPr marL="6696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1E1C03-9BBE-4217-8DAC-9C8F90BD0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1731" y="180002"/>
            <a:ext cx="1354975" cy="5746975"/>
          </a:xfrm>
        </p:spPr>
        <p:txBody>
          <a:bodyPr vert="vert270">
            <a:norm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Code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00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42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3174"/>
            <a:ext cx="10515600" cy="4541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0BA5DF-434C-43E1-8436-B68458B323B8}"/>
              </a:ext>
            </a:extLst>
          </p:cNvPr>
          <p:cNvSpPr/>
          <p:nvPr/>
        </p:nvSpPr>
        <p:spPr>
          <a:xfrm>
            <a:off x="0" y="6066000"/>
            <a:ext cx="12192000" cy="792000"/>
          </a:xfrm>
          <a:prstGeom prst="rect">
            <a:avLst/>
          </a:prstGeom>
          <a:gradFill flip="none" rotWithShape="1">
            <a:gsLst>
              <a:gs pos="0">
                <a:srgbClr val="E9418F"/>
              </a:gs>
              <a:gs pos="100000">
                <a:srgbClr val="E50150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GB" sz="135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39989" y="6271124"/>
            <a:ext cx="1312025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fld id="{E8E7C44E-9832-46C6-ABE6-C3AAFE933F81}" type="datetimeFigureOut">
              <a:rPr lang="en-GB" smtClean="0"/>
              <a:pPr/>
              <a:t>22/10/2024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71124"/>
            <a:ext cx="43200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4379" y="6271124"/>
            <a:ext cx="549443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Picture 1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F46E19A2-9266-45FD-904E-DC510FB19DD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37758" y="6174000"/>
            <a:ext cx="1232087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6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4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765">
          <p15:clr>
            <a:srgbClr val="F26B43"/>
          </p15:clr>
        </p15:guide>
        <p15:guide id="3" pos="9475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5876">
          <p15:clr>
            <a:srgbClr val="F26B43"/>
          </p15:clr>
        </p15:guide>
        <p15:guide id="6" pos="4364">
          <p15:clr>
            <a:srgbClr val="F26B43"/>
          </p15:clr>
        </p15:guide>
        <p15:guide id="7" pos="512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acm.org/code-of-ethics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sunderland.ac.uk/more/research/research-governance-integrity/ethics/apply-ethical-review/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3F28-748F-85D0-9494-694C9DE7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Assessment 1 – Planning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FC2E3-CAD2-62FC-F240-E4B97D9906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Dr Becky Allen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73A4E-C6D9-BA42-0346-2AAF66D3C3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 err="1"/>
              <a:t>Becky.allen@sunderland.ac.uk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B2141-D246-AE94-5A4D-FA5F3151C1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PROM02: Computing Master’s Project </a:t>
            </a:r>
          </a:p>
        </p:txBody>
      </p:sp>
    </p:spTree>
    <p:extLst>
      <p:ext uri="{BB962C8B-B14F-4D97-AF65-F5344CB8AC3E}">
        <p14:creationId xmlns:p14="http://schemas.microsoft.com/office/powerpoint/2010/main" val="485851205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62FA1F-0AFF-C088-7E02-871B3D77E2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this session we will cover: </a:t>
            </a:r>
          </a:p>
          <a:p>
            <a:endParaRPr lang="en-US" sz="2000" dirty="0"/>
          </a:p>
          <a:p>
            <a:pPr lvl="1"/>
            <a:r>
              <a:rPr lang="en-US" sz="2000" dirty="0"/>
              <a:t>What is the planning review?</a:t>
            </a:r>
          </a:p>
          <a:p>
            <a:pPr lvl="1"/>
            <a:r>
              <a:rPr lang="en-US" sz="2000" dirty="0"/>
              <a:t>How does it relate to the project proposal? </a:t>
            </a:r>
          </a:p>
          <a:p>
            <a:pPr lvl="1"/>
            <a:r>
              <a:rPr lang="en-US" sz="2000" dirty="0"/>
              <a:t>What does it consist of? </a:t>
            </a:r>
          </a:p>
          <a:p>
            <a:pPr lvl="1"/>
            <a:r>
              <a:rPr lang="en-US" sz="2000" dirty="0"/>
              <a:t>How to complete the project schedule </a:t>
            </a:r>
          </a:p>
          <a:p>
            <a:pPr lvl="1"/>
            <a:r>
              <a:rPr lang="en-US" sz="2000" dirty="0"/>
              <a:t>Completing the evaluation plan </a:t>
            </a:r>
          </a:p>
          <a:p>
            <a:pPr lvl="1"/>
            <a:r>
              <a:rPr lang="en-US" sz="2000" dirty="0"/>
              <a:t>What is </a:t>
            </a:r>
            <a:r>
              <a:rPr lang="en-US" sz="2000" dirty="0" err="1"/>
              <a:t>SEPLi</a:t>
            </a:r>
            <a:r>
              <a:rPr lang="en-US" sz="2000" dirty="0"/>
              <a:t>?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D8720E-A75D-D0B7-7C9C-DB9A1832D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 </a:t>
            </a:r>
          </a:p>
        </p:txBody>
      </p:sp>
      <p:pic>
        <p:nvPicPr>
          <p:cNvPr id="4" name="Picture 3" descr="A black screen with a black background&#10;&#10;Description automatically generated">
            <a:extLst>
              <a:ext uri="{FF2B5EF4-FFF2-40B4-BE49-F238E27FC236}">
                <a16:creationId xmlns:a16="http://schemas.microsoft.com/office/drawing/2014/main" id="{A6EF39B0-A145-A278-639A-44915150C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223" y="2626734"/>
            <a:ext cx="2695699" cy="269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7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77C305-9A17-683C-B718-E2248E67AA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200" dirty="0"/>
              <a:t>Assessment 1 – Planning is worth 10% </a:t>
            </a:r>
          </a:p>
          <a:p>
            <a:endParaRPr lang="en-US" dirty="0"/>
          </a:p>
          <a:p>
            <a:r>
              <a:rPr lang="en-US" sz="2200" dirty="0"/>
              <a:t>Planning Review Submission Marks </a:t>
            </a:r>
          </a:p>
          <a:p>
            <a:pPr lvl="1"/>
            <a:r>
              <a:rPr lang="en-US" sz="2000" dirty="0"/>
              <a:t>Section 1 : Terms of Reference – 50%</a:t>
            </a:r>
          </a:p>
          <a:p>
            <a:pPr lvl="1"/>
            <a:r>
              <a:rPr lang="en-US" sz="2000" dirty="0"/>
              <a:t>Section 2: Project Schedule – 20%</a:t>
            </a:r>
          </a:p>
          <a:p>
            <a:pPr lvl="1"/>
            <a:r>
              <a:rPr lang="en-US" sz="2000" dirty="0"/>
              <a:t>Section 3 : Evaluation Plan – 10%</a:t>
            </a:r>
          </a:p>
          <a:p>
            <a:pPr lvl="1"/>
            <a:r>
              <a:rPr lang="en-US" sz="2000" dirty="0"/>
              <a:t>Section 4 : </a:t>
            </a:r>
            <a:r>
              <a:rPr lang="en-US" sz="2000" dirty="0" err="1"/>
              <a:t>SEPLi</a:t>
            </a:r>
            <a:r>
              <a:rPr lang="en-US" sz="2000" dirty="0"/>
              <a:t> – 20% </a:t>
            </a:r>
          </a:p>
          <a:p>
            <a:pPr lvl="2"/>
            <a:r>
              <a:rPr lang="en-US" dirty="0"/>
              <a:t>Social, Ethical Professional and Legal issues</a:t>
            </a:r>
          </a:p>
          <a:p>
            <a:pPr lvl="2"/>
            <a:endParaRPr lang="en-US" dirty="0"/>
          </a:p>
          <a:p>
            <a:r>
              <a:rPr lang="en-US" sz="2000" dirty="0"/>
              <a:t>Each section has an assigned word limit  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0BED02-EB57-D18A-4D0E-89F92EEE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</p:spTree>
    <p:extLst>
      <p:ext uri="{BB962C8B-B14F-4D97-AF65-F5344CB8AC3E}">
        <p14:creationId xmlns:p14="http://schemas.microsoft.com/office/powerpoint/2010/main" val="4112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92EE9-3588-DD56-F161-1275A8821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200" b="1" dirty="0"/>
              <a:t>1.1 Project Title</a:t>
            </a:r>
          </a:p>
          <a:p>
            <a:pPr lvl="1"/>
            <a:r>
              <a:rPr lang="en-US" sz="2000" dirty="0"/>
              <a:t>Clear and understandable </a:t>
            </a:r>
          </a:p>
          <a:p>
            <a:pPr lvl="1"/>
            <a:r>
              <a:rPr lang="en-US" sz="2000" dirty="0"/>
              <a:t>Describes the project </a:t>
            </a:r>
          </a:p>
          <a:p>
            <a:pPr lvl="1"/>
            <a:r>
              <a:rPr lang="en-US" sz="2000" dirty="0"/>
              <a:t>Look at the title of research papers for inspiration </a:t>
            </a:r>
          </a:p>
          <a:p>
            <a:pPr lvl="1"/>
            <a:endParaRPr lang="en-US" sz="2000" dirty="0"/>
          </a:p>
          <a:p>
            <a:r>
              <a:rPr lang="en-US" sz="2150" b="1" dirty="0"/>
              <a:t>1.2 Project Overview </a:t>
            </a:r>
          </a:p>
          <a:p>
            <a:pPr lvl="1"/>
            <a:r>
              <a:rPr lang="en-US" sz="2000" b="1" dirty="0"/>
              <a:t>Aim/s </a:t>
            </a:r>
          </a:p>
          <a:p>
            <a:pPr lvl="2"/>
            <a:r>
              <a:rPr lang="en-US" sz="1850" dirty="0"/>
              <a:t>What do you intend to do / achieve overall in your project. </a:t>
            </a:r>
          </a:p>
          <a:p>
            <a:pPr lvl="2"/>
            <a:r>
              <a:rPr lang="en-US" sz="1850" dirty="0"/>
              <a:t>Must incorporate research and practice.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EA94BF-EDB3-08DC-DA4F-BB63F8C9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1: Terms of Reference – (50%)</a:t>
            </a:r>
          </a:p>
        </p:txBody>
      </p:sp>
    </p:spTree>
    <p:extLst>
      <p:ext uri="{BB962C8B-B14F-4D97-AF65-F5344CB8AC3E}">
        <p14:creationId xmlns:p14="http://schemas.microsoft.com/office/powerpoint/2010/main" val="155112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B3DE8-9DA0-B603-7838-3B13F6AA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5B411A-2689-D231-6D18-D4AEB30BD8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150" b="1" dirty="0"/>
              <a:t>1.2 Project Overview continued</a:t>
            </a:r>
          </a:p>
          <a:p>
            <a:pPr lvl="1"/>
            <a:r>
              <a:rPr lang="en-US" sz="2000" b="1" dirty="0"/>
              <a:t>Objectives </a:t>
            </a:r>
          </a:p>
          <a:p>
            <a:pPr lvl="2"/>
            <a:r>
              <a:rPr lang="en-US" sz="1850" dirty="0"/>
              <a:t> Between 5 – 8 </a:t>
            </a:r>
            <a:r>
              <a:rPr lang="en-US" sz="1850" dirty="0" err="1"/>
              <a:t>bulletpoints</a:t>
            </a:r>
            <a:r>
              <a:rPr lang="en-US" sz="1850" dirty="0"/>
              <a:t> </a:t>
            </a:r>
          </a:p>
          <a:p>
            <a:pPr lvl="2"/>
            <a:r>
              <a:rPr lang="en-US" sz="1850" dirty="0"/>
              <a:t>SMART (Specific, Measurable, Achievable, Realistic, Time-Bound) </a:t>
            </a:r>
          </a:p>
          <a:p>
            <a:pPr lvl="2"/>
            <a:r>
              <a:rPr lang="en-US" sz="1850" dirty="0"/>
              <a:t>Identify what you want to achieve and the related deliverables </a:t>
            </a:r>
          </a:p>
          <a:p>
            <a:pPr lvl="2"/>
            <a:r>
              <a:rPr lang="en-US" sz="1850" dirty="0"/>
              <a:t>Objectives should be linked to the aim/s and your research question </a:t>
            </a:r>
          </a:p>
          <a:p>
            <a:pPr lvl="2"/>
            <a:r>
              <a:rPr lang="en-US" sz="1850" dirty="0"/>
              <a:t>You will be evaluating your overall project against these objectives </a:t>
            </a:r>
          </a:p>
          <a:p>
            <a:pPr lvl="2"/>
            <a:endParaRPr lang="en-US" sz="1850" dirty="0"/>
          </a:p>
          <a:p>
            <a:pPr lvl="1"/>
            <a:r>
              <a:rPr lang="en-US" sz="2000" b="1" dirty="0"/>
              <a:t>Research Question </a:t>
            </a:r>
          </a:p>
          <a:p>
            <a:pPr lvl="2"/>
            <a:r>
              <a:rPr lang="en-US" sz="1850" dirty="0"/>
              <a:t>Must be a question and must be answerable through: </a:t>
            </a:r>
          </a:p>
          <a:p>
            <a:pPr lvl="3"/>
            <a:r>
              <a:rPr lang="en-US" sz="1700" dirty="0"/>
              <a:t>Proposed literature focus </a:t>
            </a:r>
          </a:p>
          <a:p>
            <a:pPr lvl="3"/>
            <a:r>
              <a:rPr lang="en-US" sz="1700" dirty="0"/>
              <a:t>Practical work </a:t>
            </a:r>
          </a:p>
          <a:p>
            <a:pPr lvl="3"/>
            <a:r>
              <a:rPr lang="en-US" sz="1700" dirty="0"/>
              <a:t>Exploration / activities you undertake in your project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703831-27CC-8B3E-88AD-46EA1FDD7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1: Terms of Reference – (50%)</a:t>
            </a:r>
          </a:p>
        </p:txBody>
      </p:sp>
    </p:spTree>
    <p:extLst>
      <p:ext uri="{BB962C8B-B14F-4D97-AF65-F5344CB8AC3E}">
        <p14:creationId xmlns:p14="http://schemas.microsoft.com/office/powerpoint/2010/main" val="90248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EED8E7-FF14-73A8-0B27-4E98D4D64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200" i="1" dirty="0"/>
              <a:t>What are the perceived risks of cloud-based storage systems? </a:t>
            </a:r>
          </a:p>
          <a:p>
            <a:endParaRPr lang="en-US" sz="2200" i="1" dirty="0"/>
          </a:p>
          <a:p>
            <a:r>
              <a:rPr lang="en-US" sz="2200" i="1" dirty="0"/>
              <a:t>What are the effects of VR and AR integration within the Computer Science classroom? </a:t>
            </a:r>
          </a:p>
          <a:p>
            <a:endParaRPr lang="en-US" sz="2200" i="1" dirty="0"/>
          </a:p>
          <a:p>
            <a:r>
              <a:rPr lang="en-US" sz="2200" i="1" dirty="0"/>
              <a:t>Which AI techniques are currently used in breast cancer detection and can they improve diagnostic accuracy? </a:t>
            </a:r>
          </a:p>
          <a:p>
            <a:endParaRPr lang="en-US" sz="2000" i="1" dirty="0"/>
          </a:p>
          <a:p>
            <a:endParaRPr lang="en-US" sz="2000" i="1" dirty="0"/>
          </a:p>
          <a:p>
            <a:endParaRPr lang="en-US" sz="2000" i="1" dirty="0"/>
          </a:p>
          <a:p>
            <a:endParaRPr lang="en-US" sz="2000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106B0A-5186-6753-C8E6-D41FAD8E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Research Questions </a:t>
            </a:r>
          </a:p>
        </p:txBody>
      </p:sp>
      <p:pic>
        <p:nvPicPr>
          <p:cNvPr id="5" name="Picture 4" descr="A question mark drawn on a white board&#10;&#10;Description automatically generated">
            <a:extLst>
              <a:ext uri="{FF2B5EF4-FFF2-40B4-BE49-F238E27FC236}">
                <a16:creationId xmlns:a16="http://schemas.microsoft.com/office/drawing/2014/main" id="{4DF450B4-F183-7F63-2D04-F813A537E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244" y="4213861"/>
            <a:ext cx="1973810" cy="148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3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14DF39-E7B0-0AFD-5FDD-5E23D9705C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200" b="1" dirty="0"/>
              <a:t>1.2 Project Overview continued</a:t>
            </a:r>
          </a:p>
          <a:p>
            <a:pPr lvl="1"/>
            <a:r>
              <a:rPr lang="en-US" sz="2000" b="1" dirty="0"/>
              <a:t>Practical Outcome</a:t>
            </a:r>
          </a:p>
          <a:p>
            <a:pPr lvl="2"/>
            <a:r>
              <a:rPr lang="en-US" sz="1800" dirty="0"/>
              <a:t>Up to 5 bullet points detailing your practical outputs or key deliverables </a:t>
            </a:r>
          </a:p>
          <a:p>
            <a:pPr lvl="2"/>
            <a:r>
              <a:rPr lang="en-US" sz="1800" dirty="0"/>
              <a:t>For example: If your main practical outcome is creating software you may have the following outcomes:</a:t>
            </a:r>
          </a:p>
          <a:p>
            <a:pPr lvl="3"/>
            <a:r>
              <a:rPr lang="en-US" sz="1800" dirty="0"/>
              <a:t>Requirements Analysis </a:t>
            </a:r>
          </a:p>
          <a:p>
            <a:pPr lvl="3"/>
            <a:r>
              <a:rPr lang="en-US" sz="1800" dirty="0"/>
              <a:t>A range of design specification documents </a:t>
            </a:r>
          </a:p>
          <a:p>
            <a:pPr lvl="3"/>
            <a:r>
              <a:rPr lang="en-US" sz="1800" dirty="0"/>
              <a:t>An initial prototype </a:t>
            </a:r>
          </a:p>
          <a:p>
            <a:pPr lvl="3"/>
            <a:r>
              <a:rPr lang="en-US" sz="1800" dirty="0"/>
              <a:t>Testing documentation </a:t>
            </a:r>
          </a:p>
          <a:p>
            <a:pPr lvl="3"/>
            <a:r>
              <a:rPr lang="en-US" sz="1800" dirty="0"/>
              <a:t>Refined prototype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003D07-A76F-FC69-8AEC-4EA9EADC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1: Terms of Reference (50%) </a:t>
            </a:r>
          </a:p>
        </p:txBody>
      </p:sp>
    </p:spTree>
    <p:extLst>
      <p:ext uri="{BB962C8B-B14F-4D97-AF65-F5344CB8AC3E}">
        <p14:creationId xmlns:p14="http://schemas.microsoft.com/office/powerpoint/2010/main" val="284014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B31DA6-E549-96EA-F956-27B03AFCB5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200" b="1" dirty="0"/>
              <a:t>1.3 Literature Review</a:t>
            </a:r>
          </a:p>
          <a:p>
            <a:pPr lvl="1"/>
            <a:r>
              <a:rPr lang="en-US" sz="2000" dirty="0"/>
              <a:t>Annotated bibliography of 10 high quality research papers you have read that are relevant to your project</a:t>
            </a:r>
            <a:r>
              <a:rPr lang="en-US" sz="2000" b="1" dirty="0"/>
              <a:t>.</a:t>
            </a:r>
          </a:p>
          <a:p>
            <a:pPr lvl="2"/>
            <a:r>
              <a:rPr lang="en-US" sz="1850" dirty="0"/>
              <a:t>Correct citation – Harvard referencing style </a:t>
            </a:r>
          </a:p>
          <a:p>
            <a:pPr lvl="2"/>
            <a:r>
              <a:rPr lang="en-US" sz="1850" dirty="0"/>
              <a:t>Summary of the paper (in your own words) </a:t>
            </a:r>
          </a:p>
          <a:p>
            <a:pPr lvl="2"/>
            <a:r>
              <a:rPr lang="en-US" sz="1850" dirty="0"/>
              <a:t>Relevance to YOUR research question </a:t>
            </a:r>
          </a:p>
          <a:p>
            <a:pPr lvl="2"/>
            <a:r>
              <a:rPr lang="en-US" sz="1850" dirty="0"/>
              <a:t>Relevance to YOUR practical outcome.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3D3A63-D815-2205-9A4F-E897DAFF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1: Terms of Reference (50%) </a:t>
            </a:r>
          </a:p>
        </p:txBody>
      </p:sp>
      <p:pic>
        <p:nvPicPr>
          <p:cNvPr id="5" name="Picture 4" descr="A close-up of hands holding a magnifying glass&#10;&#10;Description automatically generated">
            <a:extLst>
              <a:ext uri="{FF2B5EF4-FFF2-40B4-BE49-F238E27FC236}">
                <a16:creationId xmlns:a16="http://schemas.microsoft.com/office/drawing/2014/main" id="{C2FC683B-44DE-3780-DCDD-E6B505C24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1" y="2777589"/>
            <a:ext cx="3902364" cy="287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4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1996E9-8DC2-6D93-F18C-429DA9144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Section 2.1 Effort </a:t>
            </a:r>
          </a:p>
          <a:p>
            <a:pPr lvl="1"/>
            <a:r>
              <a:rPr lang="en-US" sz="2050" dirty="0"/>
              <a:t>Tables in the template need to be edited to include your information </a:t>
            </a:r>
          </a:p>
          <a:p>
            <a:pPr lvl="2"/>
            <a:r>
              <a:rPr lang="en-US" sz="1900" dirty="0"/>
              <a:t>What are the major / main tasks and how will you decompose them? </a:t>
            </a:r>
          </a:p>
          <a:p>
            <a:pPr lvl="3"/>
            <a:r>
              <a:rPr lang="en-US" sz="1750" dirty="0"/>
              <a:t>How much time do you anticipate spending on each sub-task?</a:t>
            </a:r>
          </a:p>
          <a:p>
            <a:pPr lvl="3"/>
            <a:r>
              <a:rPr lang="en-US" sz="1750" dirty="0"/>
              <a:t>When do you plan on starting and finishing the tasks? </a:t>
            </a:r>
          </a:p>
          <a:p>
            <a:pPr lvl="3"/>
            <a:r>
              <a:rPr lang="en-US" sz="1750" dirty="0"/>
              <a:t>What are the outcomes (deliverables) of task </a:t>
            </a:r>
          </a:p>
          <a:p>
            <a:pPr lvl="4"/>
            <a:r>
              <a:rPr lang="en-US" sz="1750" dirty="0"/>
              <a:t>Deliverables must be tangible and something you can evidence.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88A498-59E5-BB1F-C218-00D6DF35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2: Project Schedule – 20% </a:t>
            </a:r>
          </a:p>
        </p:txBody>
      </p:sp>
      <p:pic>
        <p:nvPicPr>
          <p:cNvPr id="5" name="Picture 4" descr="A table with a number of tasks&#10;&#10;Description automatically generated with medium confidence">
            <a:extLst>
              <a:ext uri="{FF2B5EF4-FFF2-40B4-BE49-F238E27FC236}">
                <a16:creationId xmlns:a16="http://schemas.microsoft.com/office/drawing/2014/main" id="{84F4DEF1-842A-AB9B-1B45-323CCD5D8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028" y="4092637"/>
            <a:ext cx="7772400" cy="19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5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3EEF29-C4E6-66C3-4C43-7647EEF88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200" b="1" dirty="0"/>
              <a:t>Section 2.1 Effort </a:t>
            </a:r>
          </a:p>
          <a:p>
            <a:pPr lvl="1"/>
            <a:r>
              <a:rPr lang="en-US" sz="2000" dirty="0"/>
              <a:t>Remember to add the </a:t>
            </a:r>
            <a:r>
              <a:rPr lang="en-US" sz="2000" b="1" dirty="0">
                <a:solidFill>
                  <a:schemeClr val="accent1"/>
                </a:solidFill>
              </a:rPr>
              <a:t>deliverables</a:t>
            </a:r>
            <a:r>
              <a:rPr lang="en-US" sz="2000" dirty="0"/>
              <a:t> from </a:t>
            </a:r>
            <a:r>
              <a:rPr lang="en-US" sz="2000" b="1" dirty="0"/>
              <a:t>Table 1: Effort </a:t>
            </a:r>
            <a:r>
              <a:rPr lang="en-US" sz="2000" dirty="0"/>
              <a:t>into </a:t>
            </a:r>
            <a:r>
              <a:rPr lang="en-US" sz="2000" b="1" dirty="0"/>
              <a:t>Table 2 : Deliverables </a:t>
            </a:r>
          </a:p>
          <a:p>
            <a:pPr lvl="2"/>
            <a:r>
              <a:rPr lang="en-US" sz="2000" b="1" dirty="0"/>
              <a:t>They must be the same set of deliverables in each table! </a:t>
            </a:r>
          </a:p>
          <a:p>
            <a:pPr lvl="2"/>
            <a:endParaRPr lang="en-US" sz="2000" b="1" dirty="0"/>
          </a:p>
          <a:p>
            <a:pPr lvl="1"/>
            <a:r>
              <a:rPr lang="en-US" sz="2000" dirty="0"/>
              <a:t>Use the </a:t>
            </a:r>
            <a:r>
              <a:rPr lang="en-US" sz="2000" b="1" dirty="0">
                <a:solidFill>
                  <a:schemeClr val="accent1"/>
                </a:solidFill>
              </a:rPr>
              <a:t>major task names </a:t>
            </a:r>
            <a:r>
              <a:rPr lang="en-US" sz="2000" dirty="0"/>
              <a:t>from </a:t>
            </a:r>
            <a:r>
              <a:rPr lang="en-US" sz="2000" b="1" dirty="0"/>
              <a:t>Table 1 : Effort </a:t>
            </a:r>
            <a:r>
              <a:rPr lang="en-US" sz="2000" dirty="0"/>
              <a:t>to create the first column in </a:t>
            </a:r>
            <a:r>
              <a:rPr lang="en-US" sz="2000" b="1" dirty="0"/>
              <a:t>Table 4: Outline Schedule / Gantt Chart.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>
                <a:solidFill>
                  <a:schemeClr val="tx2"/>
                </a:solidFill>
              </a:rPr>
              <a:t>All of the tables in Section 2 should be consistent with major task names, deliverables and timelines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4693C8-5FF9-DE8A-DDD9-6555D912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2 : Project Schedule – 20%</a:t>
            </a:r>
          </a:p>
        </p:txBody>
      </p:sp>
    </p:spTree>
    <p:extLst>
      <p:ext uri="{BB962C8B-B14F-4D97-AF65-F5344CB8AC3E}">
        <p14:creationId xmlns:p14="http://schemas.microsoft.com/office/powerpoint/2010/main" val="357702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E95E4B-A503-23B1-30CB-C437EA4F7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404937"/>
            <a:ext cx="5930735" cy="4538662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/>
              <a:t>Section 2.2: Deliverables </a:t>
            </a:r>
          </a:p>
          <a:p>
            <a:pPr lvl="1"/>
            <a:r>
              <a:rPr lang="en-US" sz="1800" dirty="0"/>
              <a:t>Deliverables are the outcomes of your research and practical work</a:t>
            </a:r>
          </a:p>
          <a:p>
            <a:pPr lvl="2"/>
            <a:r>
              <a:rPr lang="en-US" sz="1800" dirty="0"/>
              <a:t>For example: </a:t>
            </a:r>
          </a:p>
          <a:p>
            <a:pPr lvl="3"/>
            <a:r>
              <a:rPr lang="en-US" sz="1800" dirty="0"/>
              <a:t>Literature Review in Machine Learning </a:t>
            </a:r>
          </a:p>
          <a:p>
            <a:pPr lvl="3"/>
            <a:r>
              <a:rPr lang="en-US" sz="1800" dirty="0"/>
              <a:t>Review of algorithms to enable prediction in health datasets</a:t>
            </a:r>
          </a:p>
          <a:p>
            <a:pPr lvl="3"/>
            <a:r>
              <a:rPr lang="en-US" sz="1800" dirty="0"/>
              <a:t>Dataset selection and cleaning </a:t>
            </a:r>
          </a:p>
          <a:p>
            <a:pPr lvl="3"/>
            <a:r>
              <a:rPr lang="en-US" sz="1800" dirty="0"/>
              <a:t>Etc. </a:t>
            </a:r>
          </a:p>
          <a:p>
            <a:pPr lvl="2"/>
            <a:r>
              <a:rPr lang="en-US" sz="1800" dirty="0"/>
              <a:t>Often indicate the ending of tasks </a:t>
            </a:r>
          </a:p>
          <a:p>
            <a:pPr lvl="2"/>
            <a:r>
              <a:rPr lang="en-US" sz="1800" dirty="0"/>
              <a:t>Consistent nomenclature is important </a:t>
            </a:r>
          </a:p>
          <a:p>
            <a:pPr lvl="3"/>
            <a:r>
              <a:rPr lang="en-US" sz="1800" dirty="0"/>
              <a:t>Task 1 Deliverable 1 could be D1.1, </a:t>
            </a:r>
            <a:r>
              <a:rPr lang="en-US" sz="1800" dirty="0" err="1"/>
              <a:t>etc</a:t>
            </a:r>
            <a:endParaRPr lang="en-US" sz="1800" dirty="0"/>
          </a:p>
          <a:p>
            <a:pPr lvl="2"/>
            <a:r>
              <a:rPr lang="en-US" sz="1800" dirty="0"/>
              <a:t>Should be added / consistent with the final column of Table 1:Effort </a:t>
            </a:r>
          </a:p>
          <a:p>
            <a:pPr lvl="2"/>
            <a:r>
              <a:rPr lang="en-US" sz="1800" dirty="0"/>
              <a:t>Consistent with Table 2.4 Outline Schedule </a:t>
            </a:r>
          </a:p>
        </p:txBody>
      </p:sp>
      <p:pic>
        <p:nvPicPr>
          <p:cNvPr id="5" name="Picture 4" descr="A black line on a white surface&#10;&#10;Description automatically generated">
            <a:extLst>
              <a:ext uri="{FF2B5EF4-FFF2-40B4-BE49-F238E27FC236}">
                <a16:creationId xmlns:a16="http://schemas.microsoft.com/office/drawing/2014/main" id="{8CF9A2FB-98D1-9DF8-DF38-DE500EF3B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207" y="3283561"/>
            <a:ext cx="6164284" cy="1078750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8B20868-229A-C46E-392F-7A2B2733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</p:spPr>
        <p:txBody>
          <a:bodyPr anchor="ctr">
            <a:normAutofit/>
          </a:bodyPr>
          <a:lstStyle/>
          <a:p>
            <a:r>
              <a:rPr lang="en-US" dirty="0"/>
              <a:t>Section 2 : Project Schedule – 20% </a:t>
            </a:r>
          </a:p>
        </p:txBody>
      </p:sp>
    </p:spTree>
    <p:extLst>
      <p:ext uri="{BB962C8B-B14F-4D97-AF65-F5344CB8AC3E}">
        <p14:creationId xmlns:p14="http://schemas.microsoft.com/office/powerpoint/2010/main" val="270639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D4C518-A4D6-9436-111B-15FF5DEBE4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200" b="1" dirty="0"/>
              <a:t>Section 2.3 Milestones </a:t>
            </a:r>
          </a:p>
          <a:p>
            <a:pPr lvl="1"/>
            <a:r>
              <a:rPr lang="en-US" sz="1800" dirty="0"/>
              <a:t>Indicators that there is progress </a:t>
            </a:r>
          </a:p>
          <a:p>
            <a:pPr lvl="1"/>
            <a:r>
              <a:rPr lang="en-US" sz="1800" dirty="0"/>
              <a:t>A way to identify when you have completed something </a:t>
            </a:r>
          </a:p>
          <a:p>
            <a:pPr lvl="1"/>
            <a:r>
              <a:rPr lang="en-US" sz="1800" dirty="0"/>
              <a:t>Add milestones in chronological order </a:t>
            </a:r>
          </a:p>
          <a:p>
            <a:pPr lvl="1"/>
            <a:r>
              <a:rPr lang="en-US" sz="1800" dirty="0"/>
              <a:t>Identify how you will know these have been achieved (evidence) </a:t>
            </a:r>
          </a:p>
          <a:p>
            <a:pPr lvl="1"/>
            <a:r>
              <a:rPr lang="en-US" sz="1800" dirty="0"/>
              <a:t>Consistent nomenclature and representation </a:t>
            </a:r>
          </a:p>
          <a:p>
            <a:pPr lvl="1"/>
            <a:r>
              <a:rPr lang="en-US" sz="1800" b="1" dirty="0">
                <a:solidFill>
                  <a:schemeClr val="tx2"/>
                </a:solidFill>
              </a:rPr>
              <a:t>Remember to include the milestones in Section 2.4 Outline Schedule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4668A8-DBD3-A73F-D732-E5D25E33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2: Project Schedule – 20%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F6450-22C2-3106-A06D-A0F000FD0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368" y="4636027"/>
            <a:ext cx="7772400" cy="90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25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5B5E91-41D9-7117-BD9D-EA7F6DD38D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Section 2.4 Outline Schedule / Gantt Chart </a:t>
            </a:r>
          </a:p>
          <a:p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14B777-68CB-E7A8-D41B-8CC7917F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2: Project Schedule – 20% </a:t>
            </a:r>
          </a:p>
        </p:txBody>
      </p:sp>
      <p:pic>
        <p:nvPicPr>
          <p:cNvPr id="5" name="Picture 4" descr="A calendar with numbers and a few months&#10;&#10;Description automatically generated with medium confidence">
            <a:extLst>
              <a:ext uri="{FF2B5EF4-FFF2-40B4-BE49-F238E27FC236}">
                <a16:creationId xmlns:a16="http://schemas.microsoft.com/office/drawing/2014/main" id="{A4BB06B3-E99C-088B-1C8F-C9992C612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92" y="1978924"/>
            <a:ext cx="6958199" cy="22130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7051E9-3B1C-3ABD-47C4-2796E47B53F9}"/>
              </a:ext>
            </a:extLst>
          </p:cNvPr>
          <p:cNvSpPr txBox="1"/>
          <p:nvPr/>
        </p:nvSpPr>
        <p:spPr>
          <a:xfrm>
            <a:off x="8146473" y="1496291"/>
            <a:ext cx="32073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the task names from </a:t>
            </a:r>
            <a:r>
              <a:rPr lang="en-US" b="1" dirty="0"/>
              <a:t>Table 1 </a:t>
            </a:r>
            <a:r>
              <a:rPr lang="en-US" dirty="0"/>
              <a:t>into </a:t>
            </a:r>
            <a:r>
              <a:rPr lang="en-US" b="1" dirty="0"/>
              <a:t>Column 1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Shade the rows to indicate task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where you have </a:t>
            </a:r>
            <a:r>
              <a:rPr lang="en-US" b="1" dirty="0"/>
              <a:t>milestones</a:t>
            </a:r>
            <a:r>
              <a:rPr lang="en-US" dirty="0"/>
              <a:t> and </a:t>
            </a:r>
            <a:r>
              <a:rPr lang="en-US" b="1" dirty="0"/>
              <a:t>deliverables</a:t>
            </a:r>
            <a:r>
              <a:rPr lang="en-US" dirty="0"/>
              <a:t> and add them in.</a:t>
            </a:r>
          </a:p>
        </p:txBody>
      </p:sp>
      <p:pic>
        <p:nvPicPr>
          <p:cNvPr id="10" name="Picture 9" descr="A black and white text&#10;&#10;Description automatically generated">
            <a:extLst>
              <a:ext uri="{FF2B5EF4-FFF2-40B4-BE49-F238E27FC236}">
                <a16:creationId xmlns:a16="http://schemas.microsoft.com/office/drawing/2014/main" id="{D0C8C656-A699-E8C6-3AB6-96E396F7C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633" y="4485098"/>
            <a:ext cx="4286579" cy="15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2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0A1FFE-E85E-1053-BD7E-5DB42CD739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Evaluation Plan </a:t>
            </a:r>
          </a:p>
          <a:p>
            <a:pPr lvl="1"/>
            <a:r>
              <a:rPr lang="en-US" sz="2050" dirty="0"/>
              <a:t>Use the template provided – max 1 page.</a:t>
            </a:r>
          </a:p>
          <a:p>
            <a:pPr lvl="1"/>
            <a:r>
              <a:rPr lang="en-US" sz="2050" dirty="0"/>
              <a:t>Use your </a:t>
            </a:r>
            <a:r>
              <a:rPr lang="en-US" sz="2050" b="1" dirty="0">
                <a:solidFill>
                  <a:schemeClr val="tx2"/>
                </a:solidFill>
              </a:rPr>
              <a:t>Objectives from Section 1.2 </a:t>
            </a:r>
            <a:r>
              <a:rPr lang="en-US" sz="2050" dirty="0"/>
              <a:t>as the first column in the table </a:t>
            </a:r>
          </a:p>
          <a:p>
            <a:pPr lvl="1"/>
            <a:endParaRPr lang="en-US" sz="2050" dirty="0"/>
          </a:p>
          <a:p>
            <a:pPr lvl="1"/>
            <a:r>
              <a:rPr lang="en-US" sz="2050" dirty="0"/>
              <a:t>For each objective: </a:t>
            </a:r>
          </a:p>
          <a:p>
            <a:pPr lvl="2"/>
            <a:r>
              <a:rPr lang="en-US" sz="1900" dirty="0"/>
              <a:t>What was the ‘M’ in your SMART objective? </a:t>
            </a:r>
          </a:p>
          <a:p>
            <a:pPr lvl="2"/>
            <a:r>
              <a:rPr lang="en-US" sz="1900" dirty="0"/>
              <a:t>How will you know you have succeeded? </a:t>
            </a:r>
          </a:p>
          <a:p>
            <a:pPr lvl="2"/>
            <a:r>
              <a:rPr lang="en-US" sz="1900" dirty="0"/>
              <a:t>How do you demonstrate objectives reached? </a:t>
            </a:r>
          </a:p>
          <a:p>
            <a:pPr lvl="2"/>
            <a:r>
              <a:rPr lang="en-US" sz="1900" dirty="0"/>
              <a:t>What evidence will you provide?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955DD8-F107-A276-0FCA-BB0BDE067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3: Evaluation Plan – 10% </a:t>
            </a:r>
          </a:p>
        </p:txBody>
      </p:sp>
      <p:pic>
        <p:nvPicPr>
          <p:cNvPr id="5" name="Picture 4" descr="A comparison of a chart&#10;&#10;Description automatically generated with medium confidence">
            <a:extLst>
              <a:ext uri="{FF2B5EF4-FFF2-40B4-BE49-F238E27FC236}">
                <a16:creationId xmlns:a16="http://schemas.microsoft.com/office/drawing/2014/main" id="{C07F9F20-868F-9DCA-FE78-5C7247707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642" y="4995349"/>
            <a:ext cx="6333672" cy="168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7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ECF526-C0CC-08D9-9062-DC66F9373F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projects have Social, Ethical, Professional and Legal Issues.</a:t>
            </a:r>
          </a:p>
          <a:p>
            <a:r>
              <a:rPr lang="en-US" dirty="0"/>
              <a:t>100 words max per section (4 sections) </a:t>
            </a:r>
          </a:p>
          <a:p>
            <a:r>
              <a:rPr lang="en-US" b="1" dirty="0">
                <a:solidFill>
                  <a:schemeClr val="tx2"/>
                </a:solidFill>
              </a:rPr>
              <a:t>Social Considerations: </a:t>
            </a:r>
          </a:p>
          <a:p>
            <a:pPr lvl="1"/>
            <a:r>
              <a:rPr lang="en-US" dirty="0"/>
              <a:t>Context of your project? </a:t>
            </a:r>
          </a:p>
          <a:p>
            <a:pPr lvl="1"/>
            <a:r>
              <a:rPr lang="en-US" dirty="0"/>
              <a:t>Sociotechnical concerns?</a:t>
            </a:r>
          </a:p>
          <a:p>
            <a:pPr lvl="1"/>
            <a:r>
              <a:rPr lang="en-US" dirty="0"/>
              <a:t>Data ethics </a:t>
            </a:r>
          </a:p>
          <a:p>
            <a:r>
              <a:rPr lang="en-US" b="1" dirty="0">
                <a:solidFill>
                  <a:schemeClr val="tx2"/>
                </a:solidFill>
              </a:rPr>
              <a:t>Ethical Considerations:  </a:t>
            </a:r>
          </a:p>
          <a:p>
            <a:pPr lvl="1"/>
            <a:r>
              <a:rPr lang="en-US" dirty="0"/>
              <a:t>Recruiting participants? </a:t>
            </a:r>
          </a:p>
          <a:p>
            <a:pPr lvl="1"/>
            <a:r>
              <a:rPr lang="en-US" dirty="0"/>
              <a:t>Research methodology </a:t>
            </a:r>
          </a:p>
          <a:p>
            <a:r>
              <a:rPr lang="en-US" b="1" dirty="0">
                <a:solidFill>
                  <a:schemeClr val="tx2"/>
                </a:solidFill>
              </a:rPr>
              <a:t>Professional Considerations: </a:t>
            </a:r>
          </a:p>
          <a:p>
            <a:pPr lvl="1"/>
            <a:r>
              <a:rPr lang="en-US" dirty="0"/>
              <a:t>ACM Code of Conduct (</a:t>
            </a:r>
            <a:r>
              <a:rPr lang="en-US" dirty="0">
                <a:hlinkClick r:id="rId2"/>
              </a:rPr>
              <a:t>https://www.acm.org/code-of-ethics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Student / Supervisor relationship </a:t>
            </a:r>
          </a:p>
          <a:p>
            <a:r>
              <a:rPr lang="en-US" b="1" dirty="0">
                <a:solidFill>
                  <a:schemeClr val="tx2"/>
                </a:solidFill>
              </a:rPr>
              <a:t>Legal Considerations: </a:t>
            </a:r>
          </a:p>
          <a:p>
            <a:pPr lvl="1"/>
            <a:r>
              <a:rPr lang="en-US" dirty="0"/>
              <a:t>  Legislation such as GDPR and Data Protection Act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48936C-F608-7DA0-B682-E56BCB025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4: Social, Ethical, Professional and Legal Issues – 20% </a:t>
            </a: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97720C62-EF0C-0070-89FA-2B60F718F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557" y="2110179"/>
            <a:ext cx="5110431" cy="171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7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5DB486-CA09-C018-C905-CE09DF552F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Ethics applications must go through the University Online Ethics Review System: </a:t>
            </a:r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https://www.sunderland.ac.uk/more/research/research-governance-integrity/ethics/apply-ethical-review/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sz="2200" dirty="0"/>
              <a:t>Further guidance on this process is available on Canvas </a:t>
            </a:r>
            <a:r>
              <a:rPr lang="en-US" sz="2200" dirty="0">
                <a:sym typeface="Wingdings" pitchFamily="2" charset="2"/>
              </a:rPr>
              <a:t> </a:t>
            </a:r>
            <a:r>
              <a:rPr lang="en-US" sz="2200" dirty="0"/>
              <a:t>Units </a:t>
            </a:r>
            <a:r>
              <a:rPr lang="en-US" sz="2200" dirty="0">
                <a:sym typeface="Wingdings" pitchFamily="2" charset="2"/>
              </a:rPr>
              <a:t> Guidance Documents  </a:t>
            </a:r>
            <a:r>
              <a:rPr lang="en-US" sz="2200" b="1" dirty="0">
                <a:solidFill>
                  <a:schemeClr val="bg2"/>
                </a:solidFill>
                <a:sym typeface="Wingdings" pitchFamily="2" charset="2"/>
              </a:rPr>
              <a:t>Ethics Guidance 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800457-82AE-95D4-B695-0693870A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Approval Process </a:t>
            </a:r>
          </a:p>
        </p:txBody>
      </p:sp>
      <p:pic>
        <p:nvPicPr>
          <p:cNvPr id="5" name="Picture 4" descr="A screenshot of a review&#10;&#10;Description automatically generated">
            <a:extLst>
              <a:ext uri="{FF2B5EF4-FFF2-40B4-BE49-F238E27FC236}">
                <a16:creationId xmlns:a16="http://schemas.microsoft.com/office/drawing/2014/main" id="{DFC2D86C-1CC6-133D-0D56-C0B5FA0DD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426" y="3535466"/>
            <a:ext cx="5668736" cy="323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1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348670-D9D9-8513-A9B1-622A0AD32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Detailed, prescriptive assignment </a:t>
            </a:r>
          </a:p>
          <a:p>
            <a:endParaRPr lang="en-US" dirty="0"/>
          </a:p>
          <a:p>
            <a:r>
              <a:rPr lang="en-US" dirty="0"/>
              <a:t>Follow the guidance and use the template provided </a:t>
            </a:r>
          </a:p>
          <a:p>
            <a:endParaRPr lang="en-US" dirty="0"/>
          </a:p>
          <a:p>
            <a:r>
              <a:rPr lang="en-US" dirty="0"/>
              <a:t>Ensure you complete every section </a:t>
            </a:r>
          </a:p>
          <a:p>
            <a:endParaRPr lang="en-US" dirty="0"/>
          </a:p>
          <a:p>
            <a:r>
              <a:rPr lang="en-US" dirty="0"/>
              <a:t>Ensure that you are consistent </a:t>
            </a:r>
          </a:p>
          <a:p>
            <a:pPr lvl="1"/>
            <a:r>
              <a:rPr lang="en-US" sz="1800" dirty="0"/>
              <a:t>In planning the project</a:t>
            </a:r>
          </a:p>
          <a:p>
            <a:pPr lvl="1"/>
            <a:r>
              <a:rPr lang="en-US" sz="1800" dirty="0"/>
              <a:t>In the objectives, deliverables, milestones and schedule </a:t>
            </a:r>
          </a:p>
          <a:p>
            <a:pPr lvl="1"/>
            <a:endParaRPr lang="en-US" sz="1800" dirty="0"/>
          </a:p>
          <a:p>
            <a:r>
              <a:rPr lang="en-US" dirty="0"/>
              <a:t>Remember to include appendices and references as appropriate </a:t>
            </a:r>
          </a:p>
          <a:p>
            <a:pPr lvl="1"/>
            <a:r>
              <a:rPr lang="en-US" sz="1800" dirty="0"/>
              <a:t>Harvard referencing style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6A8D2E-09D4-235D-A67A-7CB0A878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pic>
        <p:nvPicPr>
          <p:cNvPr id="5" name="Picture 4" descr="A hand holding a pink highlighter over a check box&#10;&#10;Description automatically generated">
            <a:extLst>
              <a:ext uri="{FF2B5EF4-FFF2-40B4-BE49-F238E27FC236}">
                <a16:creationId xmlns:a16="http://schemas.microsoft.com/office/drawing/2014/main" id="{8493F9F2-D662-6039-06B7-60C83A790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984" y="1662628"/>
            <a:ext cx="3752825" cy="236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4A44-7CED-6E46-BE23-0F5207441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174" y="2349000"/>
            <a:ext cx="2327652" cy="1080000"/>
          </a:xfrm>
        </p:spPr>
        <p:txBody>
          <a:bodyPr/>
          <a:lstStyle/>
          <a:p>
            <a:r>
              <a:rPr lang="en-GB"/>
              <a:t>Questions?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00757"/>
      </p:ext>
    </p:extLst>
  </p:cSld>
  <p:clrMapOvr>
    <a:masterClrMapping/>
  </p:clrMapOvr>
</p:sld>
</file>

<file path=ppt/theme/theme1.xml><?xml version="1.0" encoding="utf-8"?>
<a:theme xmlns:a="http://schemas.openxmlformats.org/drawingml/2006/main" name="UoS_PinkTemplate">
  <a:themeElements>
    <a:clrScheme name="UoS_Pink">
      <a:dk1>
        <a:srgbClr val="000000"/>
      </a:dk1>
      <a:lt1>
        <a:srgbClr val="FFFFFF"/>
      </a:lt1>
      <a:dk2>
        <a:srgbClr val="652480"/>
      </a:dk2>
      <a:lt2>
        <a:srgbClr val="E4106E"/>
      </a:lt2>
      <a:accent1>
        <a:srgbClr val="E4106E"/>
      </a:accent1>
      <a:accent2>
        <a:srgbClr val="652480"/>
      </a:accent2>
      <a:accent3>
        <a:srgbClr val="162A45"/>
      </a:accent3>
      <a:accent4>
        <a:srgbClr val="EC660D"/>
      </a:accent4>
      <a:accent5>
        <a:srgbClr val="56AF34"/>
      </a:accent5>
      <a:accent6>
        <a:srgbClr val="046666"/>
      </a:accent6>
      <a:hlink>
        <a:srgbClr val="162A45"/>
      </a:hlink>
      <a:folHlink>
        <a:srgbClr val="E4106E"/>
      </a:folHlink>
    </a:clrScheme>
    <a:fontScheme name="Custom 7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UoS_PinkTemplate" id="{A215A909-7E4F-0E4E-A886-5B227934D0FD}" vid="{7E33AA98-9C6F-6B45-9D91-ED05C840DF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3541</TotalTime>
  <Words>1034</Words>
  <Application>Microsoft Macintosh PowerPoint</Application>
  <PresentationFormat>Widescreen</PresentationFormat>
  <Paragraphs>162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Arial Narrow</vt:lpstr>
      <vt:lpstr>Century Gothic</vt:lpstr>
      <vt:lpstr>Consolas</vt:lpstr>
      <vt:lpstr>Wingdings</vt:lpstr>
      <vt:lpstr>UoS_PinkTemplate</vt:lpstr>
      <vt:lpstr> Assessment 1 – Planning  </vt:lpstr>
      <vt:lpstr>Objectives  </vt:lpstr>
      <vt:lpstr>Overview </vt:lpstr>
      <vt:lpstr>Section 1: Terms of Reference – (50%)</vt:lpstr>
      <vt:lpstr>Section 1: Terms of Reference – (50%)</vt:lpstr>
      <vt:lpstr>Example Research Questions </vt:lpstr>
      <vt:lpstr>Section 1: Terms of Reference (50%) </vt:lpstr>
      <vt:lpstr>Section 1: Terms of Reference (50%) </vt:lpstr>
      <vt:lpstr>Section 2: Project Schedule – 20% </vt:lpstr>
      <vt:lpstr>Section 2 : Project Schedule – 20%</vt:lpstr>
      <vt:lpstr>Section 2 : Project Schedule – 20% </vt:lpstr>
      <vt:lpstr>Section 2: Project Schedule – 20%</vt:lpstr>
      <vt:lpstr>Section 2: Project Schedule – 20% </vt:lpstr>
      <vt:lpstr>Section 3: Evaluation Plan – 10% </vt:lpstr>
      <vt:lpstr>Section 4: Social, Ethical, Professional and Legal Issues – 20% </vt:lpstr>
      <vt:lpstr>Ethical Approval Process </vt:lpstr>
      <vt:lpstr>Summary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 Clawson</dc:creator>
  <cp:lastModifiedBy>Becky Allen (Staff)</cp:lastModifiedBy>
  <cp:revision>30</cp:revision>
  <dcterms:created xsi:type="dcterms:W3CDTF">2019-09-16T11:35:51Z</dcterms:created>
  <dcterms:modified xsi:type="dcterms:W3CDTF">2024-10-22T11:59:44Z</dcterms:modified>
</cp:coreProperties>
</file>