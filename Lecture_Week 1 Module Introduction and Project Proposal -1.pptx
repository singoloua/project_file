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381" r:id="rId2"/>
    <p:sldId id="374" r:id="rId3"/>
    <p:sldId id="375" r:id="rId4"/>
    <p:sldId id="376" r:id="rId5"/>
    <p:sldId id="377" r:id="rId6"/>
    <p:sldId id="378" r:id="rId7"/>
    <p:sldId id="379" r:id="rId8"/>
    <p:sldId id="380" r:id="rId9"/>
    <p:sldId id="382" r:id="rId10"/>
    <p:sldId id="383" r:id="rId11"/>
    <p:sldId id="384" r:id="rId12"/>
    <p:sldId id="385" r:id="rId13"/>
    <p:sldId id="386" r:id="rId14"/>
    <p:sldId id="387" r:id="rId15"/>
    <p:sldId id="389" r:id="rId16"/>
    <p:sldId id="388" r:id="rId17"/>
    <p:sldId id="373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ECDC6-206B-EA4D-AA17-68CF6FEA9A13}" v="21" dt="2024-10-18T15:23:48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5" autoAdjust="0"/>
    <p:restoredTop sz="95756"/>
  </p:normalViewPr>
  <p:slideViewPr>
    <p:cSldViewPr snapToGrid="0">
      <p:cViewPr varScale="1">
        <p:scale>
          <a:sx n="107" d="100"/>
          <a:sy n="107" d="100"/>
        </p:scale>
        <p:origin x="2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23EFF-32EB-5C4D-BAB5-94D763482FC4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48D3B-7840-4B46-98CF-6D68C3AA1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7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09000"/>
            <a:ext cx="10515600" cy="1440000"/>
          </a:xfrm>
        </p:spPr>
        <p:txBody>
          <a:bodyPr anchor="t">
            <a:noAutofit/>
          </a:bodyPr>
          <a:lstStyle>
            <a:lvl1pPr algn="ctr">
              <a:defRPr sz="36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Session Title</a:t>
            </a:r>
            <a:endParaRPr lang="ru-RU" dirty="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800496"/>
            <a:ext cx="4367531" cy="432000"/>
          </a:xfrm>
        </p:spPr>
        <p:txBody>
          <a:bodyPr>
            <a:noAutofit/>
          </a:bodyPr>
          <a:lstStyle>
            <a:lvl1pPr marL="0" indent="0" algn="l">
              <a:buNone/>
              <a:defRPr sz="18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" y="6232496"/>
            <a:ext cx="5492404" cy="324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782FE2-29A0-4B11-8020-9F198895C5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2143068"/>
            <a:ext cx="10515600" cy="457200"/>
          </a:xfrm>
        </p:spPr>
        <p:txBody>
          <a:bodyPr anchor="b"/>
          <a:lstStyle>
            <a:lvl1pPr marL="0" indent="0" algn="ctr">
              <a:buNone/>
              <a:defRPr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dirty="0"/>
              <a:t>CET### Module Title</a:t>
            </a:r>
            <a:endParaRPr lang="en-GB" dirty="0"/>
          </a:p>
        </p:txBody>
      </p:sp>
      <p:pic>
        <p:nvPicPr>
          <p:cNvPr id="22" name="Picture 2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F88C903-C2AF-446C-B7CC-C0B0CC1B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4566788"/>
            <a:ext cx="2002141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9755"/>
      </p:ext>
    </p:extLst>
  </p:cSld>
  <p:clrMapOvr>
    <a:masterClrMapping/>
  </p:clrMapOvr>
  <p:transition spd="slow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154878"/>
            <a:ext cx="10515600" cy="1293917"/>
          </a:xfrm>
        </p:spPr>
        <p:txBody>
          <a:bodyPr anchor="b">
            <a:normAutofit/>
          </a:bodyPr>
          <a:lstStyle>
            <a:lvl1pPr algn="l">
              <a:defRPr lang="ru-RU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Section Title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1987" y="1510732"/>
            <a:ext cx="10515600" cy="324000"/>
          </a:xfrm>
        </p:spPr>
        <p:txBody>
          <a:bodyPr>
            <a:normAutofit/>
          </a:bodyPr>
          <a:lstStyle>
            <a:lvl1pPr marL="0" indent="0" algn="l"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Tagline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3CCE852-44EE-4F43-971D-6B48326E6B7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253569" y="2184671"/>
            <a:ext cx="3600003" cy="360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9372CFE9-F496-4E97-A45A-9A4297AEBC5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95772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  <p:sp>
        <p:nvSpPr>
          <p:cNvPr id="27" name="Picture Placeholder 14">
            <a:extLst>
              <a:ext uri="{FF2B5EF4-FFF2-40B4-BE49-F238E27FC236}">
                <a16:creationId xmlns:a16="http://schemas.microsoft.com/office/drawing/2014/main" id="{20A5271C-4663-454E-BA47-B29CD20EA31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431369" y="2544671"/>
            <a:ext cx="2880003" cy="288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>
            <a:normAutofit/>
          </a:bodyPr>
          <a:lstStyle>
            <a:lvl1pPr marL="0" indent="0">
              <a:buNone/>
              <a:defRPr sz="1050"/>
            </a:lvl1pPr>
          </a:lstStyle>
          <a:p>
            <a:r>
              <a:rPr lang="en-GB" sz="105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505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2D517-045C-461A-A48E-BC5CB9C977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04938"/>
            <a:ext cx="10515600" cy="45386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241CCAFB-CC07-4AE2-9FD4-4D3EFA40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2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7" y="1369057"/>
            <a:ext cx="5184000" cy="42108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8212" y="1372233"/>
            <a:ext cx="5184000" cy="417908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899198"/>
            <a:ext cx="5184000" cy="400283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6B36A83-EC10-4006-A780-D19B6B70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005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04937"/>
            <a:ext cx="5184000" cy="4538662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800" y="1404939"/>
            <a:ext cx="5184000" cy="4538663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3959C20-C118-4206-916E-1BE56661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8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33789" y="960877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0142"/>
            <a:ext cx="5362211" cy="720000"/>
          </a:xfrm>
        </p:spPr>
        <p:txBody>
          <a:bodyPr>
            <a:normAutofit/>
          </a:bodyPr>
          <a:lstStyle>
            <a:lvl1pPr>
              <a:defRPr lang="en-US" sz="30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Text Layout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9" y="960877"/>
            <a:ext cx="5362211" cy="6480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9" y="1608877"/>
            <a:ext cx="5362212" cy="4288246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35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742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7140003" y="937866"/>
            <a:ext cx="4320000" cy="4320000"/>
          </a:xfrm>
          <a:prstGeom prst="ellipse">
            <a:avLst/>
          </a:prstGeom>
          <a:gradFill>
            <a:gsLst>
              <a:gs pos="0">
                <a:srgbClr val="E9418F"/>
              </a:gs>
              <a:gs pos="100000">
                <a:srgbClr val="E50150"/>
              </a:gs>
            </a:gsLst>
            <a:lin ang="0" scaled="0"/>
          </a:gradFill>
          <a:effectLst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lang="ru-RU" sz="105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7866"/>
            <a:ext cx="5364000" cy="72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Text Layout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1999" y="2311189"/>
            <a:ext cx="5364000" cy="3585934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3698"/>
            <a:ext cx="5364000" cy="648000"/>
          </a:xfrm>
        </p:spPr>
        <p:txBody>
          <a:bodyPr>
            <a:noAutofit/>
          </a:bodyPr>
          <a:lstStyle>
            <a:lvl1pPr marL="0" indent="0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1999" y="1585865"/>
            <a:ext cx="5364000" cy="7200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6858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3767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1653"/>
            <a:ext cx="10515600" cy="720000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9" y="1845132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1" y="1087109"/>
            <a:ext cx="10515599" cy="6480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accent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9803" y="1843076"/>
            <a:ext cx="5184000" cy="432000"/>
          </a:xfrm>
        </p:spPr>
        <p:txBody>
          <a:bodyPr>
            <a:noAutofit/>
          </a:bodyPr>
          <a:lstStyle>
            <a:lvl1pPr marL="0" indent="0">
              <a:buNone/>
              <a:defRPr sz="2100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199" y="2388078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9803" y="2383043"/>
            <a:ext cx="5184000" cy="3492838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accent1"/>
              </a:buCl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7CCBB-CB66-4C25-A9D5-6E43BD2113B3}"/>
              </a:ext>
            </a:extLst>
          </p:cNvPr>
          <p:cNvCxnSpPr>
            <a:cxnSpLocks/>
          </p:cNvCxnSpPr>
          <p:nvPr/>
        </p:nvCxnSpPr>
        <p:spPr>
          <a:xfrm>
            <a:off x="2496000" y="977084"/>
            <a:ext cx="7200000" cy="0"/>
          </a:xfrm>
          <a:prstGeom prst="line">
            <a:avLst/>
          </a:prstGeom>
          <a:ln w="127000" cap="rnd">
            <a:gradFill>
              <a:gsLst>
                <a:gs pos="0">
                  <a:srgbClr val="E9418F"/>
                </a:gs>
                <a:gs pos="100000">
                  <a:srgbClr val="E50150"/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5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218337"/>
            <a:ext cx="53640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9" y="933458"/>
            <a:ext cx="5364000" cy="648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6000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215286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096025" y="2771593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25" y="3092752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979029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79029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979053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79054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862085" y="183170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62085" y="215286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862109" y="2771592"/>
            <a:ext cx="1597889" cy="365125"/>
          </a:xfrm>
          <a:solidFill>
            <a:schemeClr val="accent1"/>
          </a:solidFill>
        </p:spPr>
        <p:txBody>
          <a:bodyPr anchor="b" anchorCtr="0">
            <a:normAutofit/>
          </a:bodyPr>
          <a:lstStyle>
            <a:lvl1pPr marL="0" indent="0">
              <a:buNone/>
              <a:defRPr sz="135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62110" y="3092751"/>
            <a:ext cx="1597889" cy="36512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spcBef>
                <a:spcPts val="450"/>
              </a:spcBef>
              <a:buClr>
                <a:schemeClr val="accent3"/>
              </a:buClr>
              <a:buNone/>
              <a:defRPr sz="1050" b="1" i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07326" y="218339"/>
            <a:ext cx="5363999" cy="568369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chart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19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99" y="212033"/>
            <a:ext cx="10515600" cy="720000"/>
          </a:xfrm>
        </p:spPr>
        <p:txBody>
          <a:bodyPr anchor="b">
            <a:normAutofit/>
          </a:bodyPr>
          <a:lstStyle>
            <a:lvl1pPr algn="l"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999" y="948661"/>
            <a:ext cx="10515600" cy="381377"/>
          </a:xfrm>
        </p:spPr>
        <p:txBody>
          <a:bodyPr>
            <a:noAutofit/>
          </a:bodyPr>
          <a:lstStyle>
            <a:lvl1pPr marL="0" indent="0" algn="l">
              <a:buNone/>
              <a:defRPr sz="1350" b="1" i="0">
                <a:solidFill>
                  <a:schemeClr val="tx2"/>
                </a:solidFill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731999" y="1418400"/>
            <a:ext cx="10515600" cy="4490941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2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and Title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4CD599-5E69-43C3-ACD4-1C01FE3DEB6C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905907-66DE-4B3E-8C8B-AA5A21F8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31" y="6148537"/>
            <a:ext cx="10515600" cy="6480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GB" sz="1500" b="1" kern="120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564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 Content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dia Placeholder 20">
            <a:extLst>
              <a:ext uri="{FF2B5EF4-FFF2-40B4-BE49-F238E27FC236}">
                <a16:creationId xmlns:a16="http://schemas.microsoft.com/office/drawing/2014/main" id="{BC4928A8-915E-47EC-A6FC-D85B53379D9B}"/>
              </a:ext>
            </a:extLst>
          </p:cNvPr>
          <p:cNvSpPr>
            <a:spLocks noGrp="1"/>
          </p:cNvSpPr>
          <p:nvPr>
            <p:ph type="media" sz="quarter" idx="14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5437"/>
            <a:ext cx="10515600" cy="64800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578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sli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30E6D-88C7-4DA3-9195-4088739A9B3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850440" y="3724277"/>
            <a:ext cx="1887537" cy="1870075"/>
          </a:xfrm>
          <a:prstGeom prst="ellipse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Profile </a:t>
            </a:r>
          </a:p>
          <a:p>
            <a:r>
              <a:rPr lang="en-GB" dirty="0"/>
              <a:t>Pic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2681B-930A-4BFA-980C-EDEEA6407D41}"/>
              </a:ext>
            </a:extLst>
          </p:cNvPr>
          <p:cNvSpPr txBox="1"/>
          <p:nvPr/>
        </p:nvSpPr>
        <p:spPr>
          <a:xfrm>
            <a:off x="838200" y="159346"/>
            <a:ext cx="10515600" cy="74119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GB" sz="3000" b="1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161" y="1260545"/>
            <a:ext cx="3924383" cy="1834034"/>
          </a:xfrm>
        </p:spPr>
        <p:txBody>
          <a:bodyPr>
            <a:normAutofit/>
          </a:bodyPr>
          <a:lstStyle>
            <a:lvl1pPr marL="257175" indent="-257175">
              <a:buClr>
                <a:schemeClr val="bg1"/>
              </a:buClr>
              <a:buFont typeface="Arial" panose="020B0604020202020204" pitchFamily="34" charset="0"/>
              <a:buChar char="•"/>
              <a:defRPr sz="135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5161" y="900544"/>
            <a:ext cx="3924383" cy="360000"/>
          </a:xfrm>
        </p:spPr>
        <p:txBody>
          <a:bodyPr>
            <a:noAutofit/>
          </a:bodyPr>
          <a:lstStyle>
            <a:lvl1pPr marL="0" indent="0" algn="l">
              <a:buNone/>
              <a:defRPr sz="1350" b="1" i="0"/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Next time…</a:t>
            </a:r>
          </a:p>
        </p:txBody>
      </p:sp>
      <p:pic>
        <p:nvPicPr>
          <p:cNvPr id="21" name="Picture 2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AC4A37B-563A-4FB0-B7C3-7D1637C8A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930" y="5754224"/>
            <a:ext cx="2002141" cy="936000"/>
          </a:xfrm>
          <a:prstGeom prst="rect">
            <a:avLst/>
          </a:prstGeom>
        </p:spPr>
      </p:pic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B6F23C26-2E8B-42A2-8709-597C05B90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8964" y="3906981"/>
            <a:ext cx="4367531" cy="288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 Name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06FDE94-664C-4E21-8F07-BF675294E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58964" y="4202640"/>
            <a:ext cx="4367531" cy="28800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Staff.Email@sunderland.ac.uk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884E3-FF63-4268-9940-14C502ED1F70}"/>
              </a:ext>
            </a:extLst>
          </p:cNvPr>
          <p:cNvSpPr txBox="1"/>
          <p:nvPr/>
        </p:nvSpPr>
        <p:spPr>
          <a:xfrm>
            <a:off x="6869826" y="1598522"/>
            <a:ext cx="3924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 Narrow" panose="020B0606020202030204" pitchFamily="34" charset="0"/>
              </a:rPr>
              <a:t>WE ARE THE LIFE CHANGING</a:t>
            </a:r>
          </a:p>
          <a:p>
            <a:pPr algn="ctr"/>
            <a:r>
              <a:rPr lang="en-GB" sz="1800" b="1" dirty="0">
                <a:ln>
                  <a:solidFill>
                    <a:schemeClr val="tx1"/>
                  </a:solidFill>
                </a:ln>
                <a:latin typeface="Arial Narrow" panose="020B0606020202030204" pitchFamily="34" charset="0"/>
              </a:rPr>
              <a:t>UNIVERSITY OF SUNDERLAND</a:t>
            </a:r>
          </a:p>
        </p:txBody>
      </p:sp>
    </p:spTree>
    <p:extLst>
      <p:ext uri="{BB962C8B-B14F-4D97-AF65-F5344CB8AC3E}">
        <p14:creationId xmlns:p14="http://schemas.microsoft.com/office/powerpoint/2010/main" val="136216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58201" y="819495"/>
            <a:ext cx="6644051" cy="4695906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19994"/>
            <a:ext cx="3932237" cy="3848994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4C2DA-55FA-460C-9DAB-46819513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61DCD5-C727-4C41-8A62-5FAC7F0C2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7AF2C7-93FB-4B39-A274-71C693F2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13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442729"/>
          </a:xfrm>
        </p:spPr>
        <p:txBody>
          <a:bodyPr anchor="b"/>
          <a:lstStyle>
            <a:lvl1pPr>
              <a:lnSpc>
                <a:spcPct val="100000"/>
              </a:lnSpc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11682"/>
            <a:ext cx="3932237" cy="3857307"/>
          </a:xfrm>
        </p:spPr>
        <p:txBody>
          <a:bodyPr>
            <a:normAutofit/>
          </a:bodyPr>
          <a:lstStyle>
            <a:lvl1pPr marL="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63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defTabSz="685800" rtl="0" eaLnBrk="1" latinLnBrk="0" hangingPunct="1">
              <a:lnSpc>
                <a:spcPct val="90000"/>
              </a:lnSpc>
              <a:buClr>
                <a:schemeClr val="bg2"/>
              </a:buClr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</a:t>
            </a:r>
            <a:r>
              <a:rPr lang="en-US"/>
              <a:t>text styles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457201"/>
            <a:ext cx="6653212" cy="5403850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37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7E1754DE-7B99-43C7-934C-47188CF8D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B0D48-69B4-4AA9-B169-29464509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06BAA1-9681-499B-8290-E5768947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C0351-EA09-4331-BE31-11F9C161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4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01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4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49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gradFill>
          <a:gsLst>
            <a:gs pos="0">
              <a:srgbClr val="E9418F"/>
            </a:gs>
            <a:gs pos="100000">
              <a:srgbClr val="E5015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6423D6-B74A-44F7-92D4-30A29D8C8E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0"/>
            <a:ext cx="10598151" cy="68580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1pPr>
            <a:lvl2pPr marL="1674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2pPr>
            <a:lvl3pPr marL="3348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3pPr>
            <a:lvl4pPr marL="5022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4pPr>
            <a:lvl5pPr marL="66960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latin typeface="Consolas" panose="020B0609020204030204" pitchFamily="49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1E1C03-9BBE-4217-8DAC-9C8F90BD00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1731" y="180002"/>
            <a:ext cx="1354975" cy="5746975"/>
          </a:xfrm>
        </p:spPr>
        <p:txBody>
          <a:bodyPr vert="vert270">
            <a:normAutofit/>
          </a:bodyPr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Code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00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000"/>
            <a:ext cx="105156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3174"/>
            <a:ext cx="10515600" cy="4541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0BA5DF-434C-43E1-8436-B68458B323B8}"/>
              </a:ext>
            </a:extLst>
          </p:cNvPr>
          <p:cNvSpPr/>
          <p:nvPr/>
        </p:nvSpPr>
        <p:spPr>
          <a:xfrm>
            <a:off x="0" y="6066000"/>
            <a:ext cx="12192000" cy="792000"/>
          </a:xfrm>
          <a:prstGeom prst="rect">
            <a:avLst/>
          </a:prstGeom>
          <a:gradFill flip="none" rotWithShape="1">
            <a:gsLst>
              <a:gs pos="0">
                <a:srgbClr val="E9418F"/>
              </a:gs>
              <a:gs pos="100000">
                <a:srgbClr val="E50150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GB" sz="135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9989" y="6271124"/>
            <a:ext cx="1312025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E8E7C44E-9832-46C6-ABE6-C3AAFE933F81}" type="datetimeFigureOut">
              <a:rPr lang="en-GB" smtClean="0"/>
              <a:pPr/>
              <a:t>18/10/2024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71124"/>
            <a:ext cx="4320000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4379" y="6271124"/>
            <a:ext cx="549443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bg1"/>
                </a:solidFill>
              </a:defRPr>
            </a:lvl1pPr>
          </a:lstStyle>
          <a:p>
            <a:fld id="{2CAF886B-0F33-42B3-A13F-68D40E7BA5B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F46E19A2-9266-45FD-904E-DC510FB19D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37758" y="6174000"/>
            <a:ext cx="1232087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0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4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765">
          <p15:clr>
            <a:srgbClr val="F26B43"/>
          </p15:clr>
        </p15:guide>
        <p15:guide id="3" pos="9475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5876">
          <p15:clr>
            <a:srgbClr val="F26B43"/>
          </p15:clr>
        </p15:guide>
        <p15:guide id="6" pos="4364">
          <p15:clr>
            <a:srgbClr val="F26B43"/>
          </p15:clr>
        </p15:guide>
        <p15:guide id="7" pos="512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oloyedehezekiah78/ethics-in-cybersecurity-a-case-study-of-uber-ciso-7ab7219c444d" TargetMode="External"/><Relationship Id="rId3" Type="http://schemas.openxmlformats.org/officeDocument/2006/relationships/hyperlink" Target="https://www.kaggle.com/" TargetMode="External"/><Relationship Id="rId7" Type="http://schemas.openxmlformats.org/officeDocument/2006/relationships/hyperlink" Target="https://www.scu.edu/ethics/focus-areas/internet-ethics/cases/" TargetMode="External"/><Relationship Id="rId2" Type="http://schemas.openxmlformats.org/officeDocument/2006/relationships/hyperlink" Target="https://www.upgrad.com/blog/data-science-project-ideas-topics-beginners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evonprojects.com/information-security-projects/" TargetMode="External"/><Relationship Id="rId5" Type="http://schemas.openxmlformats.org/officeDocument/2006/relationships/hyperlink" Target="https://loti.london/resources/data-ethics-case-study-library/" TargetMode="External"/><Relationship Id="rId4" Type="http://schemas.openxmlformats.org/officeDocument/2006/relationships/hyperlink" Target="https://datasociety.net/library/data-ethics-case-studie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udysmarter.co.uk/explanations/computer-science/issues-in-computer-science/ethical-issues-in-computer-science/" TargetMode="External"/><Relationship Id="rId2" Type="http://schemas.openxmlformats.org/officeDocument/2006/relationships/hyperlink" Target="https://www.simplilearn.com/final-year-computer-science-project-ideas-article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accenture.com/gb-en/insights/technology/technology-trends-2024" TargetMode="External"/><Relationship Id="rId4" Type="http://schemas.openxmlformats.org/officeDocument/2006/relationships/hyperlink" Target="https://www.kaggle.com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3F28-748F-85D0-9494-694C9DE7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Starting Your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FC2E3-CAD2-62FC-F240-E4B97D9906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Dr Becky Allen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73A4E-C6D9-BA42-0346-2AAF66D3C3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 err="1"/>
              <a:t>Becky.allen@sunderland.ac.uk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B2141-D246-AE94-5A4D-FA5F3151C1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PROM02: Computing Master’s Project </a:t>
            </a:r>
          </a:p>
        </p:txBody>
      </p:sp>
    </p:spTree>
    <p:extLst>
      <p:ext uri="{BB962C8B-B14F-4D97-AF65-F5344CB8AC3E}">
        <p14:creationId xmlns:p14="http://schemas.microsoft.com/office/powerpoint/2010/main" val="485851205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7F6965-1835-0B38-C553-447B35C601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b="1" dirty="0"/>
              <a:t>What a project is? </a:t>
            </a:r>
          </a:p>
          <a:p>
            <a:pPr lvl="1"/>
            <a:r>
              <a:rPr lang="en-US" sz="2200" dirty="0"/>
              <a:t>Where do they come from?</a:t>
            </a:r>
          </a:p>
          <a:p>
            <a:pPr lvl="1"/>
            <a:r>
              <a:rPr lang="en-US" sz="2200" dirty="0"/>
              <a:t>What must the project cover? </a:t>
            </a:r>
          </a:p>
          <a:p>
            <a:r>
              <a:rPr lang="en-US" sz="2200" b="1" dirty="0"/>
              <a:t>What is the role of a supervisor?</a:t>
            </a:r>
          </a:p>
          <a:p>
            <a:r>
              <a:rPr lang="en-US" sz="2200" dirty="0"/>
              <a:t>Do </a:t>
            </a:r>
            <a:r>
              <a:rPr lang="en-US" sz="2200" b="1" dirty="0"/>
              <a:t>you </a:t>
            </a:r>
            <a:r>
              <a:rPr lang="en-US" sz="2200" dirty="0"/>
              <a:t>have any ideas yet? </a:t>
            </a:r>
          </a:p>
          <a:p>
            <a:r>
              <a:rPr lang="en-US" sz="2200" b="1" dirty="0"/>
              <a:t>Developing an idea </a:t>
            </a:r>
          </a:p>
          <a:p>
            <a:pPr lvl="1"/>
            <a:r>
              <a:rPr lang="en-US" sz="2200" dirty="0"/>
              <a:t>Why is a project good for you? </a:t>
            </a:r>
          </a:p>
          <a:p>
            <a:r>
              <a:rPr lang="en-US" sz="2200" b="1" dirty="0"/>
              <a:t>Completing the project proposal </a:t>
            </a:r>
          </a:p>
          <a:p>
            <a:pPr lvl="1"/>
            <a:r>
              <a:rPr lang="en-US" sz="2200" dirty="0"/>
              <a:t>What is this document</a:t>
            </a:r>
          </a:p>
          <a:p>
            <a:pPr lvl="1"/>
            <a:r>
              <a:rPr lang="en-US" sz="2200" dirty="0"/>
              <a:t>Guidance on how to complete it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8B488-9C57-8032-4CED-F81B3210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pic>
        <p:nvPicPr>
          <p:cNvPr id="7" name="Picture 6" descr="Several papers on a table&#10;&#10;Description automatically generated">
            <a:extLst>
              <a:ext uri="{FF2B5EF4-FFF2-40B4-BE49-F238E27FC236}">
                <a16:creationId xmlns:a16="http://schemas.microsoft.com/office/drawing/2014/main" id="{3A3591AB-AFE7-CF0F-215D-918F362F4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799" y="1901932"/>
            <a:ext cx="4064001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8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09F732-46E4-9A4A-521F-95ED6E9BD2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>
                <a:latin typeface="Arial" charset="0"/>
              </a:rPr>
              <a:t>Allows you to integrate and develop practical skills and research abilities.</a:t>
            </a:r>
          </a:p>
          <a:p>
            <a:pPr marL="0" indent="0">
              <a:buNone/>
            </a:pPr>
            <a:endParaRPr lang="en-GB" sz="2000" dirty="0">
              <a:latin typeface="Arial" charset="0"/>
            </a:endParaRPr>
          </a:p>
          <a:p>
            <a:r>
              <a:rPr lang="en-GB" sz="2000" dirty="0">
                <a:latin typeface="Arial" charset="0"/>
              </a:rPr>
              <a:t>The chosen project should allow you to apply and/or develop advanced knowledge /skills.</a:t>
            </a:r>
          </a:p>
          <a:p>
            <a:endParaRPr lang="en-GB" sz="2000" dirty="0">
              <a:latin typeface="Arial" charset="0"/>
            </a:endParaRPr>
          </a:p>
          <a:p>
            <a:r>
              <a:rPr lang="en-GB" sz="2000" dirty="0">
                <a:latin typeface="Arial" charset="0"/>
              </a:rPr>
              <a:t>Carry out focussed and purposeful research to support the project.</a:t>
            </a:r>
          </a:p>
          <a:p>
            <a:pPr lvl="1"/>
            <a:r>
              <a:rPr lang="en-GB" sz="2000" dirty="0">
                <a:latin typeface="Arial" charset="0"/>
              </a:rPr>
              <a:t>Explore a research and practical area that interest you. </a:t>
            </a:r>
          </a:p>
          <a:p>
            <a:pPr lvl="1"/>
            <a:endParaRPr lang="en-GB" sz="2000" dirty="0">
              <a:latin typeface="Arial" charset="0"/>
            </a:endParaRPr>
          </a:p>
          <a:p>
            <a:r>
              <a:rPr lang="en-GB" sz="2000" dirty="0">
                <a:latin typeface="Arial" charset="0"/>
              </a:rPr>
              <a:t>Provide a solution to a real-world problem for an external (or academic) client/supervisor.</a:t>
            </a:r>
          </a:p>
          <a:p>
            <a:endParaRPr lang="en-GB" sz="2000" dirty="0">
              <a:latin typeface="Arial" charset="0"/>
            </a:endParaRPr>
          </a:p>
          <a:p>
            <a:r>
              <a:rPr lang="en-GB" sz="2000" dirty="0">
                <a:latin typeface="Arial" charset="0"/>
              </a:rPr>
              <a:t>Obtain feedback and critically evaluate what has been done.</a:t>
            </a:r>
          </a:p>
          <a:p>
            <a:endParaRPr lang="en-GB" sz="2000" dirty="0">
              <a:latin typeface="Arial" charset="0"/>
            </a:endParaRPr>
          </a:p>
          <a:p>
            <a:r>
              <a:rPr lang="en-GB" sz="2000" dirty="0">
                <a:latin typeface="Arial" charset="0"/>
              </a:rPr>
              <a:t>Project opportunities are available on Canvas OR you can develop your own idea.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DA07CE-4A5D-9DE5-7E8C-8B1C3E94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 </a:t>
            </a:r>
          </a:p>
        </p:txBody>
      </p:sp>
    </p:spTree>
    <p:extLst>
      <p:ext uri="{BB962C8B-B14F-4D97-AF65-F5344CB8AC3E}">
        <p14:creationId xmlns:p14="http://schemas.microsoft.com/office/powerpoint/2010/main" val="69383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911ED5-8C65-B152-5C0E-5CABE65C05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/>
              <a:t>The project must be: </a:t>
            </a:r>
          </a:p>
          <a:p>
            <a:pPr lvl="1"/>
            <a:r>
              <a:rPr lang="en-US" sz="2400" dirty="0"/>
              <a:t>Of an appropriate standard to warrant the MSc.</a:t>
            </a:r>
          </a:p>
          <a:p>
            <a:pPr lvl="1"/>
            <a:r>
              <a:rPr lang="en-US" sz="2400" dirty="0"/>
              <a:t>Relevant to the MSc course being taken </a:t>
            </a:r>
          </a:p>
          <a:p>
            <a:pPr lvl="1"/>
            <a:endParaRPr lang="en-US" dirty="0"/>
          </a:p>
          <a:p>
            <a:pPr marL="342900" lvl="1" indent="0">
              <a:buNone/>
            </a:pPr>
            <a:r>
              <a:rPr lang="en-US" sz="2800" dirty="0"/>
              <a:t>AND</a:t>
            </a:r>
          </a:p>
          <a:p>
            <a:pPr lvl="1"/>
            <a:r>
              <a:rPr lang="en-US" sz="2400" dirty="0"/>
              <a:t>Of a suitable size for it to be completed in the timescale specified (600 hours)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B01D5E-5D46-8F96-3885-0EED0AC7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– Big Picture </a:t>
            </a:r>
          </a:p>
        </p:txBody>
      </p:sp>
      <p:pic>
        <p:nvPicPr>
          <p:cNvPr id="7" name="Picture 6" descr="A diagram of a business process&#10;&#10;Description automatically generated with medium confidence">
            <a:extLst>
              <a:ext uri="{FF2B5EF4-FFF2-40B4-BE49-F238E27FC236}">
                <a16:creationId xmlns:a16="http://schemas.microsoft.com/office/drawing/2014/main" id="{1F0D74EC-CE21-6D3B-DD60-8D950C4C0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47" y="4178114"/>
            <a:ext cx="4064001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70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D1C978-6C4A-6954-08AD-47D2CAFCD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600 hours of work in total – of which 300 hours is practical work. </a:t>
            </a:r>
          </a:p>
          <a:p>
            <a:endParaRPr lang="en-US" sz="2400" dirty="0"/>
          </a:p>
          <a:p>
            <a:r>
              <a:rPr lang="en-US" sz="2400" dirty="0"/>
              <a:t>Individual – even if it is part of a larger project, your contribution must be coherent, discrete and well-defined. </a:t>
            </a:r>
          </a:p>
          <a:p>
            <a:endParaRPr lang="en-US" sz="2400" dirty="0"/>
          </a:p>
          <a:p>
            <a:r>
              <a:rPr lang="en-US" sz="2400" dirty="0"/>
              <a:t>Require clearly defined deliverables.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FC0FE1-9948-C40E-2DD0-4C4BA72A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- Project Parameters </a:t>
            </a:r>
          </a:p>
        </p:txBody>
      </p:sp>
      <p:pic>
        <p:nvPicPr>
          <p:cNvPr id="4" name="Picture 3" descr="A diagram of a business process&#10;&#10;Description automatically generated with medium confidence">
            <a:extLst>
              <a:ext uri="{FF2B5EF4-FFF2-40B4-BE49-F238E27FC236}">
                <a16:creationId xmlns:a16="http://schemas.microsoft.com/office/drawing/2014/main" id="{A89C670F-E019-6DB1-729A-6F48A13E4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47" y="4178114"/>
            <a:ext cx="4064001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7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9EAF21-90E7-49D4-C63A-96E9FFF33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/>
              <a:t>Provides sufficient scope for you to </a:t>
            </a:r>
          </a:p>
          <a:p>
            <a:pPr lvl="1"/>
            <a:r>
              <a:rPr lang="en-US" sz="2200" dirty="0"/>
              <a:t>Conduct a critical review of current, and relevant, literature in a specified research area.</a:t>
            </a:r>
          </a:p>
          <a:p>
            <a:pPr lvl="1"/>
            <a:r>
              <a:rPr lang="en-US" sz="2200" dirty="0"/>
              <a:t>Apply this literature to the practical aspect of the project in a defined manner. </a:t>
            </a:r>
          </a:p>
          <a:p>
            <a:pPr lvl="1"/>
            <a:r>
              <a:rPr lang="en-US" sz="2200" dirty="0"/>
              <a:t>Create a clearly defined, needed deliverable. </a:t>
            </a:r>
          </a:p>
          <a:p>
            <a:pPr lvl="1"/>
            <a:r>
              <a:rPr lang="en-US" sz="2200" dirty="0"/>
              <a:t>Evaluate the project, including the practical outcomes.</a:t>
            </a:r>
          </a:p>
          <a:p>
            <a:pPr lvl="1"/>
            <a:r>
              <a:rPr lang="en-US" sz="2200" dirty="0"/>
              <a:t>Formulate and answer a research question clearly linked to the practical element.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41D195-22F7-965F-2D0F-90413440C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– Project Parameters </a:t>
            </a:r>
          </a:p>
        </p:txBody>
      </p:sp>
      <p:pic>
        <p:nvPicPr>
          <p:cNvPr id="4" name="Picture 3" descr="A diagram of a business process&#10;&#10;Description automatically generated with medium confidence">
            <a:extLst>
              <a:ext uri="{FF2B5EF4-FFF2-40B4-BE49-F238E27FC236}">
                <a16:creationId xmlns:a16="http://schemas.microsoft.com/office/drawing/2014/main" id="{96B93269-EE29-BAB0-9D84-63F60AFC6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447" y="4178114"/>
            <a:ext cx="4064001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9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6A713F-96B3-9985-BAC8-6747B8892B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You will meet regularly with your supervisors once they are allocated.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Supervisors provide </a:t>
            </a:r>
            <a:r>
              <a:rPr lang="en-US" sz="2000" b="1" dirty="0"/>
              <a:t>guidance</a:t>
            </a:r>
            <a:r>
              <a:rPr lang="en-US" sz="2000" dirty="0"/>
              <a:t> – it is your responsibility to engage with them, arrange and document meetings (Supervision Meeting Log template on Canvas).</a:t>
            </a:r>
          </a:p>
          <a:p>
            <a:endParaRPr lang="en-US" sz="2000" dirty="0"/>
          </a:p>
          <a:p>
            <a:r>
              <a:rPr lang="en-US" sz="2000" dirty="0"/>
              <a:t>You will be allocated a supervisor once your project proposal has been submitted. </a:t>
            </a:r>
          </a:p>
          <a:p>
            <a:endParaRPr lang="en-US" sz="2000" dirty="0"/>
          </a:p>
          <a:p>
            <a:r>
              <a:rPr lang="en-US" sz="2000" dirty="0"/>
              <a:t>Once allocated, you should contact them directly to discuss your proposal.</a:t>
            </a:r>
          </a:p>
          <a:p>
            <a:endParaRPr lang="en-US" sz="2000" dirty="0"/>
          </a:p>
          <a:p>
            <a:r>
              <a:rPr lang="en-US" sz="2000" dirty="0"/>
              <a:t>Meetings can be held in person or via Teams. </a:t>
            </a:r>
          </a:p>
          <a:p>
            <a:endParaRPr lang="en-US" sz="2000" dirty="0"/>
          </a:p>
          <a:p>
            <a:r>
              <a:rPr lang="en-US" sz="2000" dirty="0"/>
              <a:t>Teams meetings must be conducted on a laptop or tablet within a quiet space.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C315BA-D522-8681-CE11-E830FFA2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Supervisors </a:t>
            </a:r>
          </a:p>
        </p:txBody>
      </p:sp>
    </p:spTree>
    <p:extLst>
      <p:ext uri="{BB962C8B-B14F-4D97-AF65-F5344CB8AC3E}">
        <p14:creationId xmlns:p14="http://schemas.microsoft.com/office/powerpoint/2010/main" val="409264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11EAFF-3B79-1E2F-CE5E-B953A98C94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Not sure at all?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OR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Do you already have: </a:t>
            </a:r>
          </a:p>
          <a:p>
            <a:pPr lvl="1"/>
            <a:r>
              <a:rPr lang="en-US" sz="2400" dirty="0"/>
              <a:t>Working title?</a:t>
            </a:r>
          </a:p>
          <a:p>
            <a:pPr lvl="1"/>
            <a:r>
              <a:rPr lang="en-US" sz="2400" dirty="0"/>
              <a:t>Research topic?</a:t>
            </a:r>
          </a:p>
          <a:p>
            <a:pPr lvl="1"/>
            <a:r>
              <a:rPr lang="en-US" sz="2400" dirty="0"/>
              <a:t>Research question?</a:t>
            </a:r>
          </a:p>
          <a:p>
            <a:pPr lvl="1"/>
            <a:r>
              <a:rPr lang="en-US" sz="2400" dirty="0"/>
              <a:t>Practical activity?</a:t>
            </a:r>
          </a:p>
          <a:p>
            <a:pPr lvl="1"/>
            <a:r>
              <a:rPr lang="en-US" sz="2400" dirty="0"/>
              <a:t>Practical outcome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210534-1D4F-24D8-E537-CA8E221F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Ideas? </a:t>
            </a:r>
          </a:p>
        </p:txBody>
      </p:sp>
      <p:pic>
        <p:nvPicPr>
          <p:cNvPr id="5" name="Picture 4" descr="A light bulb with a glowing light&#10;&#10;Description automatically generated">
            <a:extLst>
              <a:ext uri="{FF2B5EF4-FFF2-40B4-BE49-F238E27FC236}">
                <a16:creationId xmlns:a16="http://schemas.microsoft.com/office/drawing/2014/main" id="{51A38A47-C4B2-4A10-DB1F-C392A94AD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758" y="1738746"/>
            <a:ext cx="4821052" cy="289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4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B5F4BB-BA2C-5EE4-E016-C187FDFD8D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Submit Project Proposal Form via Canvas</a:t>
            </a:r>
          </a:p>
          <a:p>
            <a:pPr lvl="1"/>
            <a:r>
              <a:rPr lang="en-US" sz="2400" dirty="0"/>
              <a:t>Check deadline date in the Canvas submission portal </a:t>
            </a:r>
          </a:p>
          <a:p>
            <a:pPr lvl="1"/>
            <a:r>
              <a:rPr lang="en-US" sz="2400" dirty="0"/>
              <a:t>The proposal helps with supervisor allocation </a:t>
            </a:r>
          </a:p>
          <a:p>
            <a:pPr lvl="1"/>
            <a:r>
              <a:rPr lang="en-US" sz="2400" dirty="0"/>
              <a:t>The proposal helps the supervisor know what the project is you would like to pursue and who you 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AF39B7-A236-B8A8-4B55-99D7351B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</a:t>
            </a:r>
          </a:p>
        </p:txBody>
      </p:sp>
      <p:pic>
        <p:nvPicPr>
          <p:cNvPr id="5" name="Picture 4" descr="A light bulb with a glowing light&#10;&#10;Description automatically generated">
            <a:extLst>
              <a:ext uri="{FF2B5EF4-FFF2-40B4-BE49-F238E27FC236}">
                <a16:creationId xmlns:a16="http://schemas.microsoft.com/office/drawing/2014/main" id="{6AD1C928-3742-4388-2A46-14915EFD2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834" y="3534690"/>
            <a:ext cx="4014849" cy="240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6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A241-AAB2-3050-8295-56FEACAE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455" y="2080052"/>
            <a:ext cx="10515600" cy="1080000"/>
          </a:xfrm>
        </p:spPr>
        <p:txBody>
          <a:bodyPr/>
          <a:lstStyle/>
          <a:p>
            <a:pPr algn="ctr"/>
            <a:r>
              <a:rPr lang="en-US" dirty="0"/>
              <a:t>Developing Your Project Ideas </a:t>
            </a:r>
          </a:p>
        </p:txBody>
      </p:sp>
    </p:spTree>
    <p:extLst>
      <p:ext uri="{BB962C8B-B14F-4D97-AF65-F5344CB8AC3E}">
        <p14:creationId xmlns:p14="http://schemas.microsoft.com/office/powerpoint/2010/main" val="426623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55E080-F924-0C86-7B2B-C6275BC3C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Brilliant opportunity to focus on something of interest to you. </a:t>
            </a:r>
          </a:p>
          <a:p>
            <a:endParaRPr lang="en-US" sz="2200" dirty="0"/>
          </a:p>
          <a:p>
            <a:r>
              <a:rPr lang="en-US" sz="2200" dirty="0"/>
              <a:t>Allows you an opportunity to showcase and further develop your knowledge and skills.</a:t>
            </a:r>
          </a:p>
          <a:p>
            <a:endParaRPr lang="en-US" sz="2200" dirty="0"/>
          </a:p>
          <a:p>
            <a:r>
              <a:rPr lang="en-US" sz="2200" dirty="0"/>
              <a:t>Allows you to integrate research and practice with the project tailored to you. </a:t>
            </a:r>
          </a:p>
          <a:p>
            <a:endParaRPr lang="en-US" sz="2200" dirty="0"/>
          </a:p>
          <a:p>
            <a:r>
              <a:rPr lang="en-US" sz="2200" dirty="0"/>
              <a:t>Provides good examples of your work and activities. </a:t>
            </a:r>
          </a:p>
          <a:p>
            <a:endParaRPr lang="en-US" sz="2200" dirty="0"/>
          </a:p>
          <a:p>
            <a:r>
              <a:rPr lang="en-US" sz="2200" dirty="0"/>
              <a:t>Useful input for interviews and CVs.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C7C830-92C3-29AA-BDFF-C385E88F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Module</a:t>
            </a:r>
          </a:p>
        </p:txBody>
      </p:sp>
      <p:pic>
        <p:nvPicPr>
          <p:cNvPr id="5" name="Picture 4" descr="A group of red circles with white ticks&#10;&#10;Description automatically generated">
            <a:extLst>
              <a:ext uri="{FF2B5EF4-FFF2-40B4-BE49-F238E27FC236}">
                <a16:creationId xmlns:a16="http://schemas.microsoft.com/office/drawing/2014/main" id="{D4190CAD-BE9B-122F-3F95-5C62F78A0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630" y="4588769"/>
            <a:ext cx="3457170" cy="172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5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91067-FA7A-E0E2-00F3-6EAAE8A63A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/>
              <a:t>Already have a project idea from an academic? </a:t>
            </a:r>
          </a:p>
          <a:p>
            <a:pPr lvl="1"/>
            <a:r>
              <a:rPr lang="en-US" sz="2000" dirty="0"/>
              <a:t>Get started on the Project Proposal Form and submit. </a:t>
            </a:r>
          </a:p>
          <a:p>
            <a:pPr lvl="1"/>
            <a:endParaRPr lang="en-US" dirty="0"/>
          </a:p>
          <a:p>
            <a:r>
              <a:rPr lang="en-US" sz="2400" dirty="0"/>
              <a:t>Have a project idea of your own?</a:t>
            </a:r>
          </a:p>
          <a:p>
            <a:pPr lvl="1"/>
            <a:r>
              <a:rPr lang="en-US" sz="2000" dirty="0"/>
              <a:t>Review the staff profiles of the teaching team and get in touch to discuss your idea.</a:t>
            </a:r>
          </a:p>
          <a:p>
            <a:pPr lvl="1"/>
            <a:endParaRPr lang="en-US" dirty="0"/>
          </a:p>
          <a:p>
            <a:r>
              <a:rPr lang="en-US" sz="2400" dirty="0"/>
              <a:t>No project idea? </a:t>
            </a:r>
          </a:p>
          <a:p>
            <a:pPr lvl="1"/>
            <a:r>
              <a:rPr lang="en-US" sz="2200" dirty="0"/>
              <a:t>Look at the Project Ideas page on Canvas </a:t>
            </a:r>
          </a:p>
          <a:p>
            <a:pPr lvl="2"/>
            <a:r>
              <a:rPr lang="en-US" sz="2000" dirty="0"/>
              <a:t>Many proposals provide several project ideas / start-points.</a:t>
            </a:r>
          </a:p>
          <a:p>
            <a:pPr lvl="2"/>
            <a:r>
              <a:rPr lang="en-US" sz="2000" dirty="0"/>
              <a:t>If you are interested contact the academic as soon as possible, once the project is gone its gone!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274F6F-84AB-13C7-EE50-783F0266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 Project </a:t>
            </a:r>
          </a:p>
        </p:txBody>
      </p:sp>
    </p:spTree>
    <p:extLst>
      <p:ext uri="{BB962C8B-B14F-4D97-AF65-F5344CB8AC3E}">
        <p14:creationId xmlns:p14="http://schemas.microsoft.com/office/powerpoint/2010/main" val="15452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F8CDDD-77C4-5966-1092-B6D79BB21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/>
              <a:t>Data Science: </a:t>
            </a:r>
          </a:p>
          <a:p>
            <a:pPr lvl="1"/>
            <a:r>
              <a:rPr lang="en-US" sz="2000" dirty="0">
                <a:hlinkClick r:id="rId2"/>
              </a:rPr>
              <a:t>https://www.upgrad.com/blog/data-science-project-ideas-topics-beginners/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Kaggle - </a:t>
            </a:r>
            <a:r>
              <a:rPr lang="en-US" sz="2000" dirty="0">
                <a:hlinkClick r:id="rId3"/>
              </a:rPr>
              <a:t>https://www.kaggle.com/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Ethics - </a:t>
            </a:r>
            <a:r>
              <a:rPr lang="en-US" sz="2000" dirty="0">
                <a:hlinkClick r:id="rId4"/>
              </a:rPr>
              <a:t>https://datasociety.net/library/data-ethics-case-studies/</a:t>
            </a:r>
            <a:r>
              <a:rPr lang="en-US" sz="2000" dirty="0"/>
              <a:t> , </a:t>
            </a:r>
            <a:r>
              <a:rPr lang="en-US" sz="2000" dirty="0">
                <a:hlinkClick r:id="rId5"/>
              </a:rPr>
              <a:t>https://loti.london/resources/data-ethics-case-study-library/</a:t>
            </a:r>
            <a:r>
              <a:rPr lang="en-US" sz="2000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400" dirty="0"/>
              <a:t>Cybersecurity: </a:t>
            </a:r>
          </a:p>
          <a:p>
            <a:r>
              <a:rPr lang="en-US" sz="2000" dirty="0">
                <a:hlinkClick r:id="rId6"/>
              </a:rPr>
              <a:t>https://nevonprojects.com/information-security-projects/</a:t>
            </a:r>
            <a:r>
              <a:rPr lang="en-US" sz="2000" dirty="0"/>
              <a:t> </a:t>
            </a:r>
          </a:p>
          <a:p>
            <a:r>
              <a:rPr lang="en-US" sz="2000" dirty="0"/>
              <a:t>Ethics - </a:t>
            </a:r>
            <a:r>
              <a:rPr lang="en-US" sz="2000" dirty="0">
                <a:hlinkClick r:id="rId7"/>
              </a:rPr>
              <a:t>https://www.scu.edu/ethics/focus-areas/internet-ethics/cases/</a:t>
            </a:r>
            <a:r>
              <a:rPr lang="en-US" sz="2000" dirty="0"/>
              <a:t> , </a:t>
            </a:r>
            <a:r>
              <a:rPr lang="en-US" sz="2000" dirty="0">
                <a:hlinkClick r:id="rId8"/>
              </a:rPr>
              <a:t>https://medium.com/@oloyedehezekiah78/ethics-in-cybersecurity-a-case-study-of-uber-ciso-7ab7219c444d</a:t>
            </a:r>
            <a:r>
              <a:rPr lang="en-US" sz="20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5612DF-66C6-02B6-18A5-812A8D78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– Data Science &amp; Cybersecurity </a:t>
            </a:r>
          </a:p>
        </p:txBody>
      </p:sp>
    </p:spTree>
    <p:extLst>
      <p:ext uri="{BB962C8B-B14F-4D97-AF65-F5344CB8AC3E}">
        <p14:creationId xmlns:p14="http://schemas.microsoft.com/office/powerpoint/2010/main" val="319866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30CDB8-4BCC-7E6B-23BF-3D2DEECFC0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Computing </a:t>
            </a:r>
          </a:p>
          <a:p>
            <a:r>
              <a:rPr lang="en-US" sz="2000" dirty="0">
                <a:hlinkClick r:id="rId2"/>
              </a:rPr>
              <a:t>https://www.simplilearn.com/final-year-computer-science-project-ideas-article</a:t>
            </a:r>
            <a:endParaRPr lang="en-US" sz="2000" dirty="0"/>
          </a:p>
          <a:p>
            <a:r>
              <a:rPr lang="en-US" sz="2000" dirty="0"/>
              <a:t>Ethics - </a:t>
            </a:r>
            <a:r>
              <a:rPr lang="en-US" sz="2000" dirty="0">
                <a:hlinkClick r:id="rId3"/>
              </a:rPr>
              <a:t>https://www.studysmarter.co.uk/explanations/computer-science/issues-in-computer-science/ethical-issues-in-computer-science/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400" dirty="0"/>
              <a:t>Business Technology Management  </a:t>
            </a:r>
          </a:p>
          <a:p>
            <a:r>
              <a:rPr lang="en-US" sz="2000" dirty="0"/>
              <a:t>Kaggle - </a:t>
            </a:r>
            <a:r>
              <a:rPr lang="en-US" sz="2000" dirty="0">
                <a:hlinkClick r:id="rId4"/>
              </a:rPr>
              <a:t>https://www.kaggle.com/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https://www.accenture.com/gb-en/insights/technology/technology-trends-2024</a:t>
            </a:r>
            <a:r>
              <a:rPr lang="en-US" sz="20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5CDF2-0F47-0655-8E6C-499D8F99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– Computing &amp; BTM </a:t>
            </a:r>
          </a:p>
        </p:txBody>
      </p:sp>
    </p:spTree>
    <p:extLst>
      <p:ext uri="{BB962C8B-B14F-4D97-AF65-F5344CB8AC3E}">
        <p14:creationId xmlns:p14="http://schemas.microsoft.com/office/powerpoint/2010/main" val="114852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B1F4D0-2426-19B7-042B-556DDB6221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45029"/>
            <a:ext cx="10515600" cy="5011387"/>
          </a:xfrm>
        </p:spPr>
        <p:txBody>
          <a:bodyPr>
            <a:normAutofit/>
          </a:bodyPr>
          <a:lstStyle/>
          <a:p>
            <a:r>
              <a:rPr lang="en-US" b="1" dirty="0"/>
              <a:t>Aims and Objectives </a:t>
            </a:r>
          </a:p>
          <a:p>
            <a:pPr lvl="1"/>
            <a:r>
              <a:rPr lang="en-US" dirty="0"/>
              <a:t>Define what the overall project aim is and the objectives that will allow you to achieve this.</a:t>
            </a:r>
          </a:p>
          <a:p>
            <a:pPr lvl="1"/>
            <a:endParaRPr lang="en-US" dirty="0"/>
          </a:p>
          <a:p>
            <a:r>
              <a:rPr lang="en-US" b="1" dirty="0"/>
              <a:t>Research</a:t>
            </a:r>
          </a:p>
          <a:p>
            <a:pPr lvl="1"/>
            <a:r>
              <a:rPr lang="en-US" dirty="0"/>
              <a:t>What is it that you are going to research? What is the topic area? </a:t>
            </a:r>
          </a:p>
          <a:p>
            <a:pPr lvl="1"/>
            <a:r>
              <a:rPr lang="en-US" dirty="0"/>
              <a:t>What is the research question and how will you find out the answer?</a:t>
            </a:r>
          </a:p>
          <a:p>
            <a:pPr lvl="1"/>
            <a:r>
              <a:rPr lang="en-US" dirty="0"/>
              <a:t>What are you reviewing the literature for? What is it you want to find out? </a:t>
            </a:r>
          </a:p>
          <a:p>
            <a:pPr lvl="1"/>
            <a:endParaRPr lang="en-US" dirty="0"/>
          </a:p>
          <a:p>
            <a:r>
              <a:rPr lang="en-US" b="1" dirty="0"/>
              <a:t>Practical Element</a:t>
            </a:r>
          </a:p>
          <a:p>
            <a:pPr lvl="1"/>
            <a:r>
              <a:rPr lang="en-US" dirty="0"/>
              <a:t>What is the main practical element you intend to create?</a:t>
            </a:r>
          </a:p>
          <a:p>
            <a:pPr lvl="1"/>
            <a:r>
              <a:rPr lang="en-US" dirty="0"/>
              <a:t>How will you do that? What methods will you use? What techniques? What technologies and tools? </a:t>
            </a:r>
          </a:p>
          <a:p>
            <a:pPr lvl="1"/>
            <a:endParaRPr lang="en-US" dirty="0"/>
          </a:p>
          <a:p>
            <a:r>
              <a:rPr lang="en-US" b="1" dirty="0"/>
              <a:t>Relevant and Development </a:t>
            </a:r>
          </a:p>
          <a:p>
            <a:pPr lvl="1"/>
            <a:r>
              <a:rPr lang="en-US" dirty="0"/>
              <a:t>Why is the project relevant to your course? </a:t>
            </a:r>
          </a:p>
          <a:p>
            <a:pPr lvl="1"/>
            <a:r>
              <a:rPr lang="en-US" dirty="0"/>
              <a:t>How will you use the project to develop advanced skills and extend your knowledge? 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CC8B88-21AC-2124-0B32-2BD3D4BD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Proposal Form </a:t>
            </a:r>
          </a:p>
        </p:txBody>
      </p:sp>
    </p:spTree>
    <p:extLst>
      <p:ext uri="{BB962C8B-B14F-4D97-AF65-F5344CB8AC3E}">
        <p14:creationId xmlns:p14="http://schemas.microsoft.com/office/powerpoint/2010/main" val="320336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1E0423-0662-B50A-A337-E5FC8F61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Spend time thinking about your project idea </a:t>
            </a:r>
          </a:p>
          <a:p>
            <a:pPr lvl="1"/>
            <a:r>
              <a:rPr lang="en-US" sz="2000" dirty="0"/>
              <a:t>Complete the Project Proposal Form and submit to Canvas </a:t>
            </a:r>
          </a:p>
          <a:p>
            <a:pPr lvl="1"/>
            <a:endParaRPr lang="en-US" sz="2000" dirty="0"/>
          </a:p>
          <a:p>
            <a:r>
              <a:rPr lang="en-US" sz="2000" dirty="0"/>
              <a:t>In the lecture series we will be discussing all elements of the PROM02 module including: </a:t>
            </a:r>
          </a:p>
          <a:p>
            <a:pPr lvl="1"/>
            <a:r>
              <a:rPr lang="en-US" sz="2000" dirty="0"/>
              <a:t>Project Planning (Assessment 1) </a:t>
            </a:r>
          </a:p>
          <a:p>
            <a:pPr lvl="1"/>
            <a:r>
              <a:rPr lang="en-US" sz="2000" dirty="0"/>
              <a:t>What is Research? </a:t>
            </a:r>
          </a:p>
          <a:p>
            <a:pPr lvl="1"/>
            <a:r>
              <a:rPr lang="en-US" sz="2000" dirty="0"/>
              <a:t>Guidance from the Centre for Graduate Prospects </a:t>
            </a:r>
          </a:p>
          <a:p>
            <a:pPr lvl="1"/>
            <a:r>
              <a:rPr lang="en-US" sz="2000" dirty="0"/>
              <a:t>Academic Writing and Referencing </a:t>
            </a:r>
          </a:p>
          <a:p>
            <a:pPr lvl="1"/>
            <a:r>
              <a:rPr lang="en-US" sz="2000" dirty="0"/>
              <a:t>Dissertation and Viva Guidance (Assessment 2 and Assessment 3)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7AA451-B897-6D89-EB6E-B211DBB5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</a:t>
            </a:r>
          </a:p>
        </p:txBody>
      </p:sp>
      <p:pic>
        <p:nvPicPr>
          <p:cNvPr id="5" name="Picture 4" descr="A group of red circles with white ticks&#10;&#10;Description automatically generated">
            <a:extLst>
              <a:ext uri="{FF2B5EF4-FFF2-40B4-BE49-F238E27FC236}">
                <a16:creationId xmlns:a16="http://schemas.microsoft.com/office/drawing/2014/main" id="{EEDEFDFE-7C62-117F-94D8-DD319AB90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700" y="4361686"/>
            <a:ext cx="4365501" cy="218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1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4A44-7CED-6E46-BE23-0F5207441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174" y="2349000"/>
            <a:ext cx="2327652" cy="1080000"/>
          </a:xfrm>
        </p:spPr>
        <p:txBody>
          <a:bodyPr/>
          <a:lstStyle/>
          <a:p>
            <a:r>
              <a:rPr lang="en-GB"/>
              <a:t>Questions?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00757"/>
      </p:ext>
    </p:extLst>
  </p:cSld>
  <p:clrMapOvr>
    <a:masterClrMapping/>
  </p:clrMapOvr>
</p:sld>
</file>

<file path=ppt/theme/theme1.xml><?xml version="1.0" encoding="utf-8"?>
<a:theme xmlns:a="http://schemas.openxmlformats.org/drawingml/2006/main" name="UoS_PinkTemplate">
  <a:themeElements>
    <a:clrScheme name="UoS_Pink">
      <a:dk1>
        <a:srgbClr val="000000"/>
      </a:dk1>
      <a:lt1>
        <a:srgbClr val="FFFFFF"/>
      </a:lt1>
      <a:dk2>
        <a:srgbClr val="652480"/>
      </a:dk2>
      <a:lt2>
        <a:srgbClr val="E4106E"/>
      </a:lt2>
      <a:accent1>
        <a:srgbClr val="E4106E"/>
      </a:accent1>
      <a:accent2>
        <a:srgbClr val="652480"/>
      </a:accent2>
      <a:accent3>
        <a:srgbClr val="162A45"/>
      </a:accent3>
      <a:accent4>
        <a:srgbClr val="EC660D"/>
      </a:accent4>
      <a:accent5>
        <a:srgbClr val="56AF34"/>
      </a:accent5>
      <a:accent6>
        <a:srgbClr val="046666"/>
      </a:accent6>
      <a:hlink>
        <a:srgbClr val="162A45"/>
      </a:hlink>
      <a:folHlink>
        <a:srgbClr val="E4106E"/>
      </a:folHlink>
    </a:clrScheme>
    <a:fontScheme name="Custom 7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2000">
              <a:schemeClr val="accent1"/>
            </a:gs>
            <a:gs pos="100000">
              <a:schemeClr val="accent3"/>
            </a:gs>
          </a:gsLst>
          <a:lin ang="0" scaled="1"/>
          <a:tileRect/>
        </a:gra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UoS_PinkTemplate" id="{A215A909-7E4F-0E4E-A886-5B227934D0FD}" vid="{7E33AA98-9C6F-6B45-9D91-ED05C840DF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3315</TotalTime>
  <Words>996</Words>
  <Application>Microsoft Macintosh PowerPoint</Application>
  <PresentationFormat>Widescreen</PresentationFormat>
  <Paragraphs>143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Arial Narrow</vt:lpstr>
      <vt:lpstr>Century Gothic</vt:lpstr>
      <vt:lpstr>Consolas</vt:lpstr>
      <vt:lpstr>UoS_PinkTemplate</vt:lpstr>
      <vt:lpstr> Starting Your Project</vt:lpstr>
      <vt:lpstr>Overview </vt:lpstr>
      <vt:lpstr>The Project </vt:lpstr>
      <vt:lpstr>Project – Big Picture </vt:lpstr>
      <vt:lpstr>REQUIRED - Project Parameters </vt:lpstr>
      <vt:lpstr>REQUIRED – Project Parameters </vt:lpstr>
      <vt:lpstr>Supervisors </vt:lpstr>
      <vt:lpstr>Project Ideas? </vt:lpstr>
      <vt:lpstr>Timeline </vt:lpstr>
      <vt:lpstr>Developing Your Project Ideas </vt:lpstr>
      <vt:lpstr>Project Module</vt:lpstr>
      <vt:lpstr>Selecting a Project </vt:lpstr>
      <vt:lpstr>Ideas – Data Science &amp; Cybersecurity </vt:lpstr>
      <vt:lpstr>Ideas – Computing &amp; BTM </vt:lpstr>
      <vt:lpstr>Project Proposal Form </vt:lpstr>
      <vt:lpstr>Next Steps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 Clawson</dc:creator>
  <cp:lastModifiedBy>Becky Allen (Staff)</cp:lastModifiedBy>
  <cp:revision>30</cp:revision>
  <dcterms:created xsi:type="dcterms:W3CDTF">2019-09-16T11:35:51Z</dcterms:created>
  <dcterms:modified xsi:type="dcterms:W3CDTF">2024-10-18T15:30:55Z</dcterms:modified>
</cp:coreProperties>
</file>