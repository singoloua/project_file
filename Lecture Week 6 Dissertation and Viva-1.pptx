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sldIdLst>
    <p:sldId id="381" r:id="rId2"/>
    <p:sldId id="382" r:id="rId3"/>
    <p:sldId id="400" r:id="rId4"/>
    <p:sldId id="383" r:id="rId5"/>
    <p:sldId id="384" r:id="rId6"/>
    <p:sldId id="385" r:id="rId7"/>
    <p:sldId id="386" r:id="rId8"/>
    <p:sldId id="387" r:id="rId9"/>
    <p:sldId id="388" r:id="rId10"/>
    <p:sldId id="389" r:id="rId11"/>
    <p:sldId id="390" r:id="rId12"/>
    <p:sldId id="264" r:id="rId13"/>
    <p:sldId id="368" r:id="rId14"/>
    <p:sldId id="379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2" r:id="rId25"/>
    <p:sldId id="403" r:id="rId26"/>
    <p:sldId id="373" r:id="rId27"/>
    <p:sldId id="401" r:id="rId28"/>
    <p:sldId id="404" r:id="rId29"/>
    <p:sldId id="406" r:id="rId30"/>
    <p:sldId id="407" r:id="rId31"/>
    <p:sldId id="408" r:id="rId32"/>
    <p:sldId id="409" r:id="rId33"/>
    <p:sldId id="410" r:id="rId34"/>
    <p:sldId id="405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C0971C-6410-1F41-BC79-4286A4BB29C4}" v="20" dt="2024-10-23T15:23:13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4" autoAdjust="0"/>
    <p:restoredTop sz="93596"/>
  </p:normalViewPr>
  <p:slideViewPr>
    <p:cSldViewPr snapToGrid="0">
      <p:cViewPr varScale="1">
        <p:scale>
          <a:sx n="104" d="100"/>
          <a:sy n="104" d="100"/>
        </p:scale>
        <p:origin x="4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y Allen (Staff)" userId="dbd2e095-0457-4cc8-94e1-e839ae92b919" providerId="ADAL" clId="{05C0971C-6410-1F41-BC79-4286A4BB29C4}"/>
    <pc:docChg chg="undo custSel modSld">
      <pc:chgData name="Becky Allen (Staff)" userId="dbd2e095-0457-4cc8-94e1-e839ae92b919" providerId="ADAL" clId="{05C0971C-6410-1F41-BC79-4286A4BB29C4}" dt="2024-10-28T15:13:09.379" v="84" actId="20577"/>
      <pc:docMkLst>
        <pc:docMk/>
      </pc:docMkLst>
      <pc:sldChg chg="modSp mod">
        <pc:chgData name="Becky Allen (Staff)" userId="dbd2e095-0457-4cc8-94e1-e839ae92b919" providerId="ADAL" clId="{05C0971C-6410-1F41-BC79-4286A4BB29C4}" dt="2024-10-28T15:02:20.298" v="43" actId="20577"/>
        <pc:sldMkLst>
          <pc:docMk/>
          <pc:sldMk cId="0" sldId="368"/>
        </pc:sldMkLst>
        <pc:spChg chg="mod">
          <ac:chgData name="Becky Allen (Staff)" userId="dbd2e095-0457-4cc8-94e1-e839ae92b919" providerId="ADAL" clId="{05C0971C-6410-1F41-BC79-4286A4BB29C4}" dt="2024-10-28T15:02:20.298" v="43" actId="20577"/>
          <ac:spMkLst>
            <pc:docMk/>
            <pc:sldMk cId="0" sldId="368"/>
            <ac:spMk id="43011" creationId="{B9D1960E-4B8C-47BE-A0A8-611902FEDFEF}"/>
          </ac:spMkLst>
        </pc:spChg>
      </pc:sldChg>
      <pc:sldChg chg="modSp mod">
        <pc:chgData name="Becky Allen (Staff)" userId="dbd2e095-0457-4cc8-94e1-e839ae92b919" providerId="ADAL" clId="{05C0971C-6410-1F41-BC79-4286A4BB29C4}" dt="2024-10-28T14:49:02.218" v="1" actId="20577"/>
        <pc:sldMkLst>
          <pc:docMk/>
          <pc:sldMk cId="1297591757" sldId="386"/>
        </pc:sldMkLst>
        <pc:spChg chg="mod">
          <ac:chgData name="Becky Allen (Staff)" userId="dbd2e095-0457-4cc8-94e1-e839ae92b919" providerId="ADAL" clId="{05C0971C-6410-1F41-BC79-4286A4BB29C4}" dt="2024-10-28T14:49:02.218" v="1" actId="20577"/>
          <ac:spMkLst>
            <pc:docMk/>
            <pc:sldMk cId="1297591757" sldId="386"/>
            <ac:spMk id="2" creationId="{7F44B0B1-6A23-10E2-7AB9-3C1E24D1D41E}"/>
          </ac:spMkLst>
        </pc:spChg>
      </pc:sldChg>
      <pc:sldChg chg="modSp mod">
        <pc:chgData name="Becky Allen (Staff)" userId="dbd2e095-0457-4cc8-94e1-e839ae92b919" providerId="ADAL" clId="{05C0971C-6410-1F41-BC79-4286A4BB29C4}" dt="2024-10-28T15:08:31.713" v="47" actId="20577"/>
        <pc:sldMkLst>
          <pc:docMk/>
          <pc:sldMk cId="663274863" sldId="396"/>
        </pc:sldMkLst>
        <pc:spChg chg="mod">
          <ac:chgData name="Becky Allen (Staff)" userId="dbd2e095-0457-4cc8-94e1-e839ae92b919" providerId="ADAL" clId="{05C0971C-6410-1F41-BC79-4286A4BB29C4}" dt="2024-10-28T15:08:31.713" v="47" actId="20577"/>
          <ac:spMkLst>
            <pc:docMk/>
            <pc:sldMk cId="663274863" sldId="396"/>
            <ac:spMk id="2" creationId="{51383252-3C66-4BBF-3FFF-52B77DC10484}"/>
          </ac:spMkLst>
        </pc:spChg>
      </pc:sldChg>
      <pc:sldChg chg="modSp mod">
        <pc:chgData name="Becky Allen (Staff)" userId="dbd2e095-0457-4cc8-94e1-e839ae92b919" providerId="ADAL" clId="{05C0971C-6410-1F41-BC79-4286A4BB29C4}" dt="2024-10-28T15:13:09.379" v="84" actId="20577"/>
        <pc:sldMkLst>
          <pc:docMk/>
          <pc:sldMk cId="2658072074" sldId="403"/>
        </pc:sldMkLst>
        <pc:spChg chg="mod">
          <ac:chgData name="Becky Allen (Staff)" userId="dbd2e095-0457-4cc8-94e1-e839ae92b919" providerId="ADAL" clId="{05C0971C-6410-1F41-BC79-4286A4BB29C4}" dt="2024-10-28T15:13:09.379" v="84" actId="20577"/>
          <ac:spMkLst>
            <pc:docMk/>
            <pc:sldMk cId="2658072074" sldId="403"/>
            <ac:spMk id="2" creationId="{EA12B79A-E0CE-68D6-8475-A18EDCCA82A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23EFF-32EB-5C4D-BAB5-94D763482FC4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48D3B-7840-4B46-98CF-6D68C3AA1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7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50F28-C870-4311-AD65-99A6441199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95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09000"/>
            <a:ext cx="10515600" cy="1440000"/>
          </a:xfrm>
        </p:spPr>
        <p:txBody>
          <a:bodyPr anchor="t">
            <a:noAutofit/>
          </a:bodyPr>
          <a:lstStyle>
            <a:lvl1pPr algn="ctr">
              <a:defRPr sz="36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Session Title</a:t>
            </a:r>
            <a:endParaRPr lang="ru-RU" dirty="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800496"/>
            <a:ext cx="4367531" cy="432000"/>
          </a:xfrm>
        </p:spPr>
        <p:txBody>
          <a:bodyPr>
            <a:noAutofit/>
          </a:bodyPr>
          <a:lstStyle>
            <a:lvl1pPr marL="0" indent="0" algn="l">
              <a:buNone/>
              <a:defRPr sz="18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 Name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199" y="6232496"/>
            <a:ext cx="5492404" cy="324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Staff.Email@sunderland.ac.uk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782FE2-29A0-4B11-8020-9F198895C5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2143068"/>
            <a:ext cx="10515600" cy="457200"/>
          </a:xfrm>
        </p:spPr>
        <p:txBody>
          <a:bodyPr anchor="b"/>
          <a:lstStyle>
            <a:lvl1pPr marL="0" indent="0" algn="ctr">
              <a:buNone/>
              <a:defRPr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CET### Module Title</a:t>
            </a:r>
            <a:endParaRPr lang="en-GB" dirty="0"/>
          </a:p>
        </p:txBody>
      </p:sp>
      <p:pic>
        <p:nvPicPr>
          <p:cNvPr id="22" name="Picture 2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F88C903-C2AF-446C-B7CC-C0B0CC1B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30" y="4566788"/>
            <a:ext cx="2002141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9755"/>
      </p:ext>
    </p:extLst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154878"/>
            <a:ext cx="10515600" cy="1293917"/>
          </a:xfrm>
        </p:spPr>
        <p:txBody>
          <a:bodyPr anchor="b">
            <a:normAutofit/>
          </a:bodyPr>
          <a:lstStyle>
            <a:lvl1pPr algn="l">
              <a:defRPr lang="ru-RU" sz="30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Section Title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1987" y="1510732"/>
            <a:ext cx="10515600" cy="324000"/>
          </a:xfrm>
        </p:spPr>
        <p:txBody>
          <a:bodyPr>
            <a:normAutofit/>
          </a:bodyPr>
          <a:lstStyle>
            <a:lvl1pPr marL="0" indent="0" algn="l">
              <a:buNone/>
              <a:defRPr sz="1350" b="1" i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Tagline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10BB4-D57E-4372-8E10-AC15DC09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0624-61F8-48B2-BD00-D3BC39DE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3CCE852-44EE-4F43-971D-6B48326E6B7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253569" y="2184671"/>
            <a:ext cx="3600003" cy="360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9372CFE9-F496-4E97-A45A-9A4297AEBC5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95772" y="2544671"/>
            <a:ext cx="2880003" cy="288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  <p:sp>
        <p:nvSpPr>
          <p:cNvPr id="27" name="Picture Placeholder 14">
            <a:extLst>
              <a:ext uri="{FF2B5EF4-FFF2-40B4-BE49-F238E27FC236}">
                <a16:creationId xmlns:a16="http://schemas.microsoft.com/office/drawing/2014/main" id="{20A5271C-4663-454E-BA47-B29CD20EA31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431369" y="2544671"/>
            <a:ext cx="2880003" cy="288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05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2D517-045C-461A-A48E-BC5CB9C977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04938"/>
            <a:ext cx="10515600" cy="45386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241CCAFB-CC07-4AE2-9FD4-4D3EFA40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29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4B91177-A100-491C-B5EF-BC77E2E33F7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1369057"/>
            <a:ext cx="5184000" cy="42108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6758D2F-C9AC-4514-B48E-2863E8DD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899198"/>
            <a:ext cx="5184000" cy="400283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33C3A9F-17E4-45DF-8DB7-7A55846AAA8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8212" y="1372233"/>
            <a:ext cx="5184000" cy="4179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19AB308-7C32-46C9-B8DB-AA96B7ED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99198"/>
            <a:ext cx="5184000" cy="400283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16B36A83-EC10-4006-A780-D19B6B70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005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D5AE8A8-E027-4529-A5B7-4D355C71E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4937"/>
            <a:ext cx="5184000" cy="4538662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B3E4803-F2CA-4138-9997-6108BFDF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800" y="1404939"/>
            <a:ext cx="5184000" cy="4538663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3959C20-C118-4206-916E-1BE56661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8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A97CE06-9ECC-4438-8B22-B58B27F2B5F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33789" y="960877"/>
            <a:ext cx="4320000" cy="432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lang="ru-RU" sz="105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0142"/>
            <a:ext cx="5362211" cy="720000"/>
          </a:xfrm>
        </p:spPr>
        <p:txBody>
          <a:bodyPr>
            <a:normAutofit/>
          </a:bodyPr>
          <a:lstStyle>
            <a:lvl1pPr>
              <a:defRPr lang="en-US" sz="30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Text Layout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469DEB5-CC79-4D71-8360-0B10B34244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9" y="960877"/>
            <a:ext cx="5362211" cy="648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EE0722D-F13C-4FFB-9E31-CC024B92E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9" y="1608877"/>
            <a:ext cx="5362212" cy="4288246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742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D6E0F90B-941A-45B6-85DA-E0D4E7977CD8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7140003" y="937866"/>
            <a:ext cx="4320000" cy="432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lang="ru-RU" sz="105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99" y="217866"/>
            <a:ext cx="5364000" cy="72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Text Layout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2903A57-2768-42F8-A5EA-4C19B90498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999" y="2311189"/>
            <a:ext cx="5364000" cy="3585934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5F10B1F7-5633-4C8B-A868-72D9C782CB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999" y="943698"/>
            <a:ext cx="5364000" cy="648000"/>
          </a:xfrm>
        </p:spPr>
        <p:txBody>
          <a:bodyPr>
            <a:noAutofit/>
          </a:bodyPr>
          <a:lstStyle>
            <a:lvl1pPr marL="0" indent="0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CBA9BCD0-48BA-4D5B-8871-61204EACE4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1999" y="1585865"/>
            <a:ext cx="5364000" cy="7200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6858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376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1653"/>
            <a:ext cx="10515600" cy="720000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DBBD-D278-4F5A-BD28-172F5B157E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9" y="1845132"/>
            <a:ext cx="5184000" cy="432000"/>
          </a:xfrm>
        </p:spPr>
        <p:txBody>
          <a:bodyPr>
            <a:noAutofit/>
          </a:bodyPr>
          <a:lstStyle>
            <a:lvl1pPr marL="0" indent="0">
              <a:buNone/>
              <a:defRPr sz="2100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087109"/>
            <a:ext cx="10515599" cy="6480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accent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9803" y="1843076"/>
            <a:ext cx="5184000" cy="432000"/>
          </a:xfrm>
        </p:spPr>
        <p:txBody>
          <a:bodyPr>
            <a:noAutofit/>
          </a:bodyPr>
          <a:lstStyle>
            <a:lvl1pPr marL="0" indent="0">
              <a:buNone/>
              <a:defRPr sz="2100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0525F80-1CD7-406E-A2B0-ACB0CD78A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199" y="2388078"/>
            <a:ext cx="5184000" cy="3492838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69803" y="2383043"/>
            <a:ext cx="5184000" cy="3492838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57CCBB-CB66-4C25-A9D5-6E43BD2113B3}"/>
              </a:ext>
            </a:extLst>
          </p:cNvPr>
          <p:cNvCxnSpPr>
            <a:cxnSpLocks/>
          </p:cNvCxnSpPr>
          <p:nvPr/>
        </p:nvCxnSpPr>
        <p:spPr>
          <a:xfrm>
            <a:off x="2496000" y="977084"/>
            <a:ext cx="7200000" cy="0"/>
          </a:xfrm>
          <a:prstGeom prst="line">
            <a:avLst/>
          </a:prstGeom>
          <a:ln w="127000" cap="rnd">
            <a:gradFill>
              <a:gsLst>
                <a:gs pos="0">
                  <a:srgbClr val="E9418F"/>
                </a:gs>
                <a:gs pos="100000">
                  <a:srgbClr val="E50150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5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218337"/>
            <a:ext cx="5364000" cy="720000"/>
          </a:xfrm>
        </p:spPr>
        <p:txBody>
          <a:bodyPr anchor="b">
            <a:normAutofit/>
          </a:bodyPr>
          <a:lstStyle>
            <a:lvl1pPr algn="l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999" y="933458"/>
            <a:ext cx="5364000" cy="648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6000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30%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2152862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9080FED-3BFC-4CCC-8B5A-A2942CA5CF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096025" y="2771593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E7EC8229-D712-4FD1-990B-9212FC211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25" y="3092752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7341020-DCB7-4CC5-BE55-AAAF421822E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979029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1896019-AE20-47E2-AA66-ED9D16B2D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79029" y="215286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12C49D2-92E0-4567-8BD4-9B8FC05367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979053" y="277159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6B5DA211-72E1-4B00-AA61-980CE5A345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79054" y="309275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7CF7C63-619A-46EE-AF36-FCA26441A0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862085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20%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92E0EA61-C10D-4760-B03F-F27BCF1FC2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62085" y="215286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A3A14FA-D9E9-4000-B30C-14CADBFE48F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862109" y="277159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5%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0FBCB607-92E0-4206-871B-10CAEB337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62110" y="309275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08CD548A-F4DA-41C7-BC55-620C696D5A6A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07326" y="218339"/>
            <a:ext cx="5363999" cy="568369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Click icon to add chart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819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99" y="212033"/>
            <a:ext cx="10515600" cy="720000"/>
          </a:xfrm>
        </p:spPr>
        <p:txBody>
          <a:bodyPr anchor="b">
            <a:normAutofit/>
          </a:bodyPr>
          <a:lstStyle>
            <a:lvl1pPr algn="l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999" y="948661"/>
            <a:ext cx="10515600" cy="381377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3AF64257-E00C-4FE5-925B-A78911D1D2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731999" y="1418400"/>
            <a:ext cx="10515600" cy="4490941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224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and Title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4CD599-5E69-43C3-ACD4-1C01FE3DEB6C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905907-66DE-4B3E-8C8B-AA5A21F8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31" y="6148537"/>
            <a:ext cx="10515600" cy="64800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GB" sz="1500" b="1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564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Content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dia Placeholder 20">
            <a:extLst>
              <a:ext uri="{FF2B5EF4-FFF2-40B4-BE49-F238E27FC236}">
                <a16:creationId xmlns:a16="http://schemas.microsoft.com/office/drawing/2014/main" id="{BC4928A8-915E-47EC-A6FC-D85B53379D9B}"/>
              </a:ext>
            </a:extLst>
          </p:cNvPr>
          <p:cNvSpPr>
            <a:spLocks noGrp="1"/>
          </p:cNvSpPr>
          <p:nvPr>
            <p:ph type="media" sz="quarter" idx="1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3A926948-B9C1-4E84-AF0F-40965A13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5437"/>
            <a:ext cx="10515600" cy="64800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578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30E6D-88C7-4DA3-9195-4088739A9B3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850440" y="3724277"/>
            <a:ext cx="1887537" cy="1870075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Profile </a:t>
            </a:r>
          </a:p>
          <a:p>
            <a:r>
              <a:rPr lang="en-GB" dirty="0"/>
              <a:t>Pic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2681B-930A-4BFA-980C-EDEEA6407D41}"/>
              </a:ext>
            </a:extLst>
          </p:cNvPr>
          <p:cNvSpPr txBox="1"/>
          <p:nvPr/>
        </p:nvSpPr>
        <p:spPr>
          <a:xfrm>
            <a:off x="838200" y="159346"/>
            <a:ext cx="10515600" cy="7411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GB" sz="3000" b="1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5161" y="1260545"/>
            <a:ext cx="3924383" cy="1834034"/>
          </a:xfrm>
        </p:spPr>
        <p:txBody>
          <a:bodyPr>
            <a:normAutofit/>
          </a:bodyPr>
          <a:lstStyle>
            <a:lvl1pPr marL="257175" indent="-257175">
              <a:buClr>
                <a:schemeClr val="bg1"/>
              </a:buClr>
              <a:buFont typeface="Arial" panose="020B0604020202020204" pitchFamily="34" charset="0"/>
              <a:buChar char="•"/>
              <a:defRPr sz="135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5161" y="900544"/>
            <a:ext cx="3924383" cy="360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/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Next time…</a:t>
            </a:r>
          </a:p>
        </p:txBody>
      </p:sp>
      <p:pic>
        <p:nvPicPr>
          <p:cNvPr id="21" name="Picture 2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AC4A37B-563A-4FB0-B7C3-7D1637C8A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30" y="5754224"/>
            <a:ext cx="2002141" cy="936000"/>
          </a:xfrm>
          <a:prstGeom prst="rect">
            <a:avLst/>
          </a:prstGeom>
        </p:spPr>
      </p:pic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B6F23C26-2E8B-42A2-8709-597C05B90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8964" y="3906981"/>
            <a:ext cx="4367531" cy="2880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 Name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06FDE94-664C-4E21-8F07-BF675294E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58964" y="4202640"/>
            <a:ext cx="4367531" cy="28800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Staff.Email@sunderland.ac.uk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1884E3-FF63-4268-9940-14C502ED1F70}"/>
              </a:ext>
            </a:extLst>
          </p:cNvPr>
          <p:cNvSpPr txBox="1"/>
          <p:nvPr/>
        </p:nvSpPr>
        <p:spPr>
          <a:xfrm>
            <a:off x="6869826" y="1598522"/>
            <a:ext cx="3924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WE ARE THE LIFE CHANGING</a:t>
            </a:r>
          </a:p>
          <a:p>
            <a:pPr algn="ctr"/>
            <a:r>
              <a:rPr lang="en-GB" sz="1800" b="1" dirty="0">
                <a:ln>
                  <a:solidFill>
                    <a:schemeClr val="tx1"/>
                  </a:solidFill>
                </a:ln>
                <a:latin typeface="Arial Narrow" panose="020B0606020202030204" pitchFamily="34" charset="0"/>
              </a:rPr>
              <a:t>UNIVERSITY OF SUNDERLAND</a:t>
            </a:r>
          </a:p>
        </p:txBody>
      </p:sp>
    </p:spTree>
    <p:extLst>
      <p:ext uri="{BB962C8B-B14F-4D97-AF65-F5344CB8AC3E}">
        <p14:creationId xmlns:p14="http://schemas.microsoft.com/office/powerpoint/2010/main" val="136216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8E328517-DD21-40E0-B948-B25B366BD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58201" y="819495"/>
            <a:ext cx="6644051" cy="469590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2"/>
            <a:ext cx="3932237" cy="144272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19994"/>
            <a:ext cx="3932237" cy="3848994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4C2DA-55FA-460C-9DAB-46819513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E61DCD5-C727-4C41-8A62-5FAC7F0C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7AF2C7-93FB-4B39-A274-71C693F2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13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2"/>
            <a:ext cx="3932237" cy="1442729"/>
          </a:xfrm>
        </p:spPr>
        <p:txBody>
          <a:bodyPr anchor="b"/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11682"/>
            <a:ext cx="3932237" cy="3857307"/>
          </a:xfrm>
        </p:spPr>
        <p:txBody>
          <a:bodyPr>
            <a:normAutofit/>
          </a:bodyPr>
          <a:lstStyle>
            <a:lvl1pPr marL="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63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</a:t>
            </a:r>
            <a:r>
              <a:rPr lang="en-US"/>
              <a:t>text styles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8A6791-A2CB-40CE-AEF5-A729106D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457201"/>
            <a:ext cx="6653212" cy="54038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37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7E1754DE-7B99-43C7-934C-47188CF8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B0D48-69B4-4AA9-B169-29464509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06BAA1-9681-499B-8290-E5768947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4C0351-EA09-4331-BE31-11F9C161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4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01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4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49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6423D6-B74A-44F7-92D4-30A29D8C8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0"/>
            <a:ext cx="10598151" cy="6858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1pPr>
            <a:lvl2pPr marL="1674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2pPr>
            <a:lvl3pPr marL="3348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3pPr>
            <a:lvl4pPr marL="502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4pPr>
            <a:lvl5pPr marL="6696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1E1C03-9BBE-4217-8DAC-9C8F90BD0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1731" y="180002"/>
            <a:ext cx="1354975" cy="5746975"/>
          </a:xfrm>
        </p:spPr>
        <p:txBody>
          <a:bodyPr vert="vert270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Code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00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42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3174"/>
            <a:ext cx="10515600" cy="4541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0BA5DF-434C-43E1-8436-B68458B323B8}"/>
              </a:ext>
            </a:extLst>
          </p:cNvPr>
          <p:cNvSpPr/>
          <p:nvPr/>
        </p:nvSpPr>
        <p:spPr>
          <a:xfrm>
            <a:off x="0" y="6066000"/>
            <a:ext cx="12192000" cy="792000"/>
          </a:xfrm>
          <a:prstGeom prst="rect">
            <a:avLst/>
          </a:prstGeom>
          <a:gradFill flip="none" rotWithShape="1">
            <a:gsLst>
              <a:gs pos="0">
                <a:srgbClr val="E9418F"/>
              </a:gs>
              <a:gs pos="100000">
                <a:srgbClr val="E50150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GB" sz="13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39989" y="6271124"/>
            <a:ext cx="1312025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fld id="{E8E7C44E-9832-46C6-ABE6-C3AAFE933F81}" type="datetimeFigureOut">
              <a:rPr lang="en-GB" smtClean="0"/>
              <a:pPr/>
              <a:t>28/10/2024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71124"/>
            <a:ext cx="43200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4379" y="6271124"/>
            <a:ext cx="549443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F46E19A2-9266-45FD-904E-DC510FB19D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37758" y="6174000"/>
            <a:ext cx="1232087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6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4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765">
          <p15:clr>
            <a:srgbClr val="F26B43"/>
          </p15:clr>
        </p15:guide>
        <p15:guide id="3" pos="9475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5876">
          <p15:clr>
            <a:srgbClr val="F26B43"/>
          </p15:clr>
        </p15:guide>
        <p15:guide id="6" pos="4364">
          <p15:clr>
            <a:srgbClr val="F26B43"/>
          </p15:clr>
        </p15:guide>
        <p15:guide id="7" pos="512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columbia.edu/~hgs/netbib/efficientReading.pdf" TargetMode="Externa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3F28-748F-85D0-9494-694C9DE7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Dissertation and Viva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FC2E3-CAD2-62FC-F240-E4B97D9906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Dr Becky Allen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73A4E-C6D9-BA42-0346-2AAF66D3C3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 err="1"/>
              <a:t>Becky.allen@sunderland.ac.uk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B2141-D246-AE94-5A4D-FA5F3151C1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PROM02: Computing Master’s Project </a:t>
            </a:r>
          </a:p>
        </p:txBody>
      </p:sp>
    </p:spTree>
    <p:extLst>
      <p:ext uri="{BB962C8B-B14F-4D97-AF65-F5344CB8AC3E}">
        <p14:creationId xmlns:p14="http://schemas.microsoft.com/office/powerpoint/2010/main" val="485851205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A03FE3-77B1-11E5-31B2-A85CB140F0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the session we will cover: </a:t>
            </a:r>
          </a:p>
          <a:p>
            <a:endParaRPr lang="en-US" sz="2000" dirty="0"/>
          </a:p>
          <a:p>
            <a:pPr lvl="1"/>
            <a:r>
              <a:rPr lang="en-US" sz="2000" dirty="0"/>
              <a:t>The Dissertation: </a:t>
            </a:r>
          </a:p>
          <a:p>
            <a:pPr lvl="2"/>
            <a:r>
              <a:rPr lang="en-US" sz="1800" dirty="0"/>
              <a:t>Dissertation layout and structure </a:t>
            </a:r>
          </a:p>
          <a:p>
            <a:pPr lvl="2"/>
            <a:r>
              <a:rPr lang="en-US" sz="1800" dirty="0"/>
              <a:t>What each chapter entails </a:t>
            </a:r>
          </a:p>
          <a:p>
            <a:pPr lvl="2"/>
            <a:endParaRPr lang="en-US" sz="1700" dirty="0"/>
          </a:p>
          <a:p>
            <a:pPr lvl="1"/>
            <a:r>
              <a:rPr lang="en-US" sz="2000" dirty="0"/>
              <a:t>The Viva:</a:t>
            </a:r>
          </a:p>
          <a:p>
            <a:pPr lvl="2"/>
            <a:r>
              <a:rPr lang="en-US" sz="1800" dirty="0"/>
              <a:t>Presentation </a:t>
            </a:r>
          </a:p>
          <a:p>
            <a:pPr lvl="2"/>
            <a:r>
              <a:rPr lang="en-US" sz="1800" dirty="0"/>
              <a:t>Demo </a:t>
            </a:r>
          </a:p>
          <a:p>
            <a:pPr lvl="2"/>
            <a:r>
              <a:rPr lang="en-US" sz="1800" dirty="0"/>
              <a:t>Q&amp;A</a:t>
            </a:r>
          </a:p>
          <a:p>
            <a:pPr lvl="2"/>
            <a:r>
              <a:rPr lang="en-US" sz="1800" dirty="0"/>
              <a:t>General viva guidance </a:t>
            </a:r>
          </a:p>
          <a:p>
            <a:pPr lvl="1"/>
            <a:endParaRPr lang="en-US" sz="1850" dirty="0"/>
          </a:p>
          <a:p>
            <a:pPr marL="0" indent="0"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CC93E7-772D-D60F-3CCE-E96C8D4DB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Objectives </a:t>
            </a:r>
          </a:p>
        </p:txBody>
      </p:sp>
      <p:pic>
        <p:nvPicPr>
          <p:cNvPr id="5" name="Picture 4" descr="A black screen with a black background&#10;&#10;Description automatically generated">
            <a:extLst>
              <a:ext uri="{FF2B5EF4-FFF2-40B4-BE49-F238E27FC236}">
                <a16:creationId xmlns:a16="http://schemas.microsoft.com/office/drawing/2014/main" id="{8BBEE7E7-3BD0-37D6-57DF-742987F73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098" y="2565070"/>
            <a:ext cx="2695699" cy="269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1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13DE-9E7E-60B0-4A85-27D909DC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6200"/>
            <a:ext cx="10515600" cy="1440000"/>
          </a:xfrm>
        </p:spPr>
        <p:txBody>
          <a:bodyPr/>
          <a:lstStyle/>
          <a:p>
            <a:r>
              <a:rPr lang="en-US" dirty="0"/>
              <a:t>Dissertation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FFBCD-38CA-A414-C6C0-62D808F596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PROM02 </a:t>
            </a:r>
          </a:p>
        </p:txBody>
      </p:sp>
    </p:spTree>
    <p:extLst>
      <p:ext uri="{BB962C8B-B14F-4D97-AF65-F5344CB8AC3E}">
        <p14:creationId xmlns:p14="http://schemas.microsoft.com/office/powerpoint/2010/main" val="3655242683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89FDB7-3163-CCFB-91B5-3BD723492B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Your dissertation must represent both the </a:t>
            </a:r>
            <a:r>
              <a:rPr lang="en-US" sz="2000" b="1" dirty="0">
                <a:solidFill>
                  <a:schemeClr val="tx2"/>
                </a:solidFill>
              </a:rPr>
              <a:t>practical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tx2"/>
                </a:solidFill>
              </a:rPr>
              <a:t>research</a:t>
            </a:r>
            <a:r>
              <a:rPr lang="en-US" sz="2000" dirty="0"/>
              <a:t> elements of your project</a:t>
            </a:r>
          </a:p>
          <a:p>
            <a:pPr lvl="1"/>
            <a:r>
              <a:rPr lang="en-US" sz="2000" dirty="0"/>
              <a:t>It should be clear how the current research in the field has influenced your practical work  </a:t>
            </a:r>
          </a:p>
          <a:p>
            <a:pPr lvl="1"/>
            <a:endParaRPr lang="en-US" sz="2000" dirty="0"/>
          </a:p>
          <a:p>
            <a:r>
              <a:rPr lang="en-US" sz="2000" dirty="0"/>
              <a:t>It must be clear how your project relates to your </a:t>
            </a:r>
            <a:r>
              <a:rPr lang="en-US" sz="2000" dirty="0" err="1"/>
              <a:t>programme</a:t>
            </a:r>
            <a:r>
              <a:rPr lang="en-US" sz="2000" dirty="0"/>
              <a:t> of study </a:t>
            </a:r>
          </a:p>
          <a:p>
            <a:endParaRPr lang="en-US" sz="2000" dirty="0"/>
          </a:p>
          <a:p>
            <a:r>
              <a:rPr lang="en-US" sz="2000" dirty="0"/>
              <a:t>Word limit – </a:t>
            </a:r>
            <a:r>
              <a:rPr lang="en-US" sz="2000" b="1" dirty="0">
                <a:solidFill>
                  <a:schemeClr val="tx2"/>
                </a:solidFill>
              </a:rPr>
              <a:t>15,000 </a:t>
            </a:r>
          </a:p>
          <a:p>
            <a:pPr lvl="1"/>
            <a:r>
              <a:rPr lang="en-US" sz="2000" dirty="0"/>
              <a:t>References and figures (e.g. diagrams, screenshots, charts) are outside of the word count</a:t>
            </a:r>
          </a:p>
          <a:p>
            <a:pPr lvl="1"/>
            <a:endParaRPr lang="en-US" sz="2000" dirty="0"/>
          </a:p>
          <a:p>
            <a:r>
              <a:rPr lang="en-US" sz="2000" dirty="0"/>
              <a:t>Additional should be provided in the appendices </a:t>
            </a:r>
          </a:p>
          <a:p>
            <a:pPr lvl="1"/>
            <a:r>
              <a:rPr lang="en-US" sz="2000" dirty="0"/>
              <a:t>You should refer to this where relevant in your dissertation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45DD7-A79F-8C54-E6ED-FBDD4218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2:  Dissertation – 75% </a:t>
            </a:r>
          </a:p>
        </p:txBody>
      </p:sp>
    </p:spTree>
    <p:extLst>
      <p:ext uri="{BB962C8B-B14F-4D97-AF65-F5344CB8AC3E}">
        <p14:creationId xmlns:p14="http://schemas.microsoft.com/office/powerpoint/2010/main" val="391984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0AA5CA-9D3F-F713-9592-9D1311BB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Template on Canvas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AB00E-CBFF-6902-2E84-59D6C56B5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the Dissertation assessment portal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the files to download section of the lecture </a:t>
            </a:r>
          </a:p>
        </p:txBody>
      </p:sp>
      <p:pic>
        <p:nvPicPr>
          <p:cNvPr id="11" name="Picture 10" descr="A paper with text and a red and blue design&#10;&#10;Description automatically generated">
            <a:extLst>
              <a:ext uri="{FF2B5EF4-FFF2-40B4-BE49-F238E27FC236}">
                <a16:creationId xmlns:a16="http://schemas.microsoft.com/office/drawing/2014/main" id="{5F0E262B-0266-FF8D-2C65-49FB3F8CB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137" y="893001"/>
            <a:ext cx="2831845" cy="3620091"/>
          </a:xfrm>
          <a:prstGeom prst="rect">
            <a:avLst/>
          </a:prstGeom>
        </p:spPr>
      </p:pic>
      <p:pic>
        <p:nvPicPr>
          <p:cNvPr id="13" name="Picture 12" descr="A document with text on it&#10;&#10;Description automatically generated">
            <a:extLst>
              <a:ext uri="{FF2B5EF4-FFF2-40B4-BE49-F238E27FC236}">
                <a16:creationId xmlns:a16="http://schemas.microsoft.com/office/drawing/2014/main" id="{E3AF1B49-4C3C-0CAC-5B0B-A02C07CC6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094" y="359776"/>
            <a:ext cx="4375906" cy="51134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6ECFF5-D711-8353-FC01-6094789BCF24}"/>
              </a:ext>
            </a:extLst>
          </p:cNvPr>
          <p:cNvSpPr txBox="1"/>
          <p:nvPr/>
        </p:nvSpPr>
        <p:spPr>
          <a:xfrm>
            <a:off x="550357" y="4490279"/>
            <a:ext cx="4093832" cy="120032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IMPORTANT! </a:t>
            </a:r>
          </a:p>
          <a:p>
            <a:endParaRPr lang="en-US" b="1" dirty="0"/>
          </a:p>
          <a:p>
            <a:r>
              <a:rPr lang="en-US" b="1" dirty="0"/>
              <a:t>This must be modified to appropriately match your project</a:t>
            </a:r>
          </a:p>
        </p:txBody>
      </p:sp>
    </p:spTree>
    <p:extLst>
      <p:ext uri="{BB962C8B-B14F-4D97-AF65-F5344CB8AC3E}">
        <p14:creationId xmlns:p14="http://schemas.microsoft.com/office/powerpoint/2010/main" val="335197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428473-FE52-695B-8D56-87F8567535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60000"/>
            <a:ext cx="4973053" cy="4538662"/>
          </a:xfrm>
        </p:spPr>
        <p:txBody>
          <a:bodyPr>
            <a:normAutofit/>
          </a:bodyPr>
          <a:lstStyle/>
          <a:p>
            <a:r>
              <a:rPr lang="en-US" sz="2000" dirty="0"/>
              <a:t>The main text of the dissertation should be divided into numbered chapters </a:t>
            </a:r>
          </a:p>
          <a:p>
            <a:pPr lvl="1"/>
            <a:r>
              <a:rPr lang="en-US" sz="2000" dirty="0"/>
              <a:t>Each with a clear title </a:t>
            </a:r>
          </a:p>
          <a:p>
            <a:pPr lvl="1"/>
            <a:endParaRPr lang="en-US" sz="2000" dirty="0"/>
          </a:p>
          <a:p>
            <a:r>
              <a:rPr lang="en-US" sz="2000" dirty="0"/>
              <a:t>Each chapter should have a series of headings and sub-headings </a:t>
            </a:r>
          </a:p>
          <a:p>
            <a:pPr lvl="1"/>
            <a:r>
              <a:rPr lang="en-US" sz="2000" dirty="0"/>
              <a:t>The headings should follow a logical order</a:t>
            </a:r>
          </a:p>
          <a:p>
            <a:pPr lvl="1"/>
            <a:r>
              <a:rPr lang="en-US" sz="2000" dirty="0"/>
              <a:t>The text should flow from one section to the next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7B760F-E441-2B9A-B7D7-8F62B2D62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Layout </a:t>
            </a:r>
          </a:p>
        </p:txBody>
      </p:sp>
      <p:pic>
        <p:nvPicPr>
          <p:cNvPr id="5" name="Picture 4" descr="A document with text on it&#10;&#10;Description automatically generated">
            <a:extLst>
              <a:ext uri="{FF2B5EF4-FFF2-40B4-BE49-F238E27FC236}">
                <a16:creationId xmlns:a16="http://schemas.microsoft.com/office/drawing/2014/main" id="{1712CDCB-03EC-E6E2-04E9-43D94ECD4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011" y="180000"/>
            <a:ext cx="4881789" cy="568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5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44B0B1-6A23-10E2-7AB9-3C1E24D1D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should be a list of sources that have been referenced in the main body of the dissertation </a:t>
            </a:r>
          </a:p>
          <a:p>
            <a:endParaRPr lang="en-US" dirty="0"/>
          </a:p>
          <a:p>
            <a:r>
              <a:rPr lang="en-US" dirty="0"/>
              <a:t>You should use </a:t>
            </a:r>
            <a:r>
              <a:rPr lang="en-US" b="1" dirty="0">
                <a:solidFill>
                  <a:schemeClr val="tx2"/>
                </a:solidFill>
              </a:rPr>
              <a:t>Harvard Referencing System </a:t>
            </a:r>
          </a:p>
          <a:p>
            <a:endParaRPr lang="en-US" dirty="0"/>
          </a:p>
          <a:p>
            <a:r>
              <a:rPr lang="en-US" dirty="0"/>
              <a:t>Example of in text citation: </a:t>
            </a:r>
          </a:p>
          <a:p>
            <a:pPr marL="0" indent="0" algn="ctr">
              <a:buNone/>
            </a:pPr>
            <a:r>
              <a:rPr lang="en-GB" b="0" i="1" dirty="0">
                <a:solidFill>
                  <a:srgbClr val="2D3B45"/>
                </a:solidFill>
                <a:effectLst/>
                <a:latin typeface="Lato Extended"/>
              </a:rPr>
              <a:t>... according to findings by Benedict et al. (2021) ...</a:t>
            </a:r>
          </a:p>
          <a:p>
            <a:pPr marL="0" indent="0" algn="ctr">
              <a:buNone/>
            </a:pPr>
            <a:endParaRPr lang="en-GB" i="1" dirty="0">
              <a:solidFill>
                <a:srgbClr val="2D3B45"/>
              </a:solidFill>
              <a:latin typeface="Lato Extended"/>
            </a:endParaRPr>
          </a:p>
          <a:p>
            <a:r>
              <a:rPr lang="en-US" dirty="0"/>
              <a:t>Example of reference list: </a:t>
            </a:r>
          </a:p>
          <a:p>
            <a:pPr marL="0" indent="0">
              <a:buNone/>
            </a:pPr>
            <a:endParaRPr lang="en-GB" dirty="0">
              <a:solidFill>
                <a:srgbClr val="2D3B45"/>
              </a:solidFill>
              <a:latin typeface="Lato Extended"/>
            </a:endParaRPr>
          </a:p>
          <a:p>
            <a:pPr marL="0" indent="0">
              <a:buNone/>
            </a:pPr>
            <a:r>
              <a:rPr lang="en-GB" dirty="0">
                <a:solidFill>
                  <a:srgbClr val="2D3B45"/>
                </a:solidFill>
                <a:latin typeface="Lato Extended"/>
              </a:rPr>
              <a:t>Benedict, A. (2021) ’Defining Deep Learning,’ </a:t>
            </a:r>
            <a:r>
              <a:rPr lang="en-GB" i="1" dirty="0">
                <a:solidFill>
                  <a:srgbClr val="2D3B45"/>
                </a:solidFill>
                <a:latin typeface="Lato Extended"/>
              </a:rPr>
              <a:t>IEEE Transactions on Artificial Intelligence, </a:t>
            </a:r>
            <a:r>
              <a:rPr lang="en-GB" dirty="0">
                <a:solidFill>
                  <a:srgbClr val="2D3B45"/>
                </a:solidFill>
                <a:latin typeface="Lato Extended"/>
              </a:rPr>
              <a:t>210(7), pp.103-110. </a:t>
            </a:r>
            <a:r>
              <a:rPr lang="en-GB" dirty="0" err="1">
                <a:solidFill>
                  <a:srgbClr val="2D3B45"/>
                </a:solidFill>
                <a:latin typeface="Lato Extended"/>
              </a:rPr>
              <a:t>doi</a:t>
            </a:r>
            <a:r>
              <a:rPr lang="en-GB" dirty="0">
                <a:solidFill>
                  <a:srgbClr val="2D3B45"/>
                </a:solidFill>
                <a:latin typeface="Lato Extended"/>
              </a:rPr>
              <a:t>: 00.001.000x.</a:t>
            </a:r>
            <a:endParaRPr lang="en-US" dirty="0"/>
          </a:p>
          <a:p>
            <a:pPr marL="0" indent="0">
              <a:buNone/>
            </a:pPr>
            <a:endParaRPr lang="en-US" i="1" dirty="0">
              <a:solidFill>
                <a:srgbClr val="2D3B45"/>
              </a:solidFill>
              <a:latin typeface="Lato Extended"/>
            </a:endParaRPr>
          </a:p>
          <a:p>
            <a:pPr marL="0" indent="0">
              <a:buNone/>
            </a:pPr>
            <a:endParaRPr lang="en-GB" b="0" i="1" dirty="0">
              <a:solidFill>
                <a:srgbClr val="2D3B45"/>
              </a:solidFill>
              <a:effectLst/>
              <a:latin typeface="Lato Extended"/>
            </a:endParaRPr>
          </a:p>
          <a:p>
            <a:pPr marL="0" indent="0" algn="ctr">
              <a:buNone/>
            </a:pPr>
            <a:endParaRPr lang="en-GB" i="1" dirty="0">
              <a:solidFill>
                <a:srgbClr val="2D3B45"/>
              </a:solidFill>
              <a:latin typeface="Lato Extended"/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EF4688-3D45-0132-57CE-5C379682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129759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D17A38-C484-3A19-4059-C1674D618F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Your dissertation should cover (but is not limited to) the following elements: </a:t>
            </a:r>
          </a:p>
          <a:p>
            <a:endParaRPr lang="en-US" dirty="0"/>
          </a:p>
          <a:p>
            <a:r>
              <a:rPr lang="en-US" dirty="0"/>
              <a:t>TITLE PAGE</a:t>
            </a:r>
          </a:p>
          <a:p>
            <a:r>
              <a:rPr lang="en-US" dirty="0"/>
              <a:t>DECLARATION </a:t>
            </a:r>
          </a:p>
          <a:p>
            <a:r>
              <a:rPr lang="en-US" dirty="0"/>
              <a:t>ABSTRACT</a:t>
            </a:r>
          </a:p>
          <a:p>
            <a:r>
              <a:rPr lang="en-US" dirty="0"/>
              <a:t>CONTENTS PAGE</a:t>
            </a:r>
          </a:p>
          <a:p>
            <a:r>
              <a:rPr lang="en-US" dirty="0"/>
              <a:t>LIST OF FIGURES </a:t>
            </a:r>
          </a:p>
          <a:p>
            <a:pPr marL="342900" indent="-342900">
              <a:buAutoNum type="arabicPeriod"/>
            </a:pPr>
            <a:r>
              <a:rPr lang="en-US" dirty="0"/>
              <a:t>Introduction </a:t>
            </a:r>
          </a:p>
          <a:p>
            <a:pPr marL="342900" indent="-342900">
              <a:buAutoNum type="arabicPeriod"/>
            </a:pPr>
            <a:r>
              <a:rPr lang="en-US" dirty="0"/>
              <a:t>Literature Review </a:t>
            </a:r>
          </a:p>
          <a:p>
            <a:pPr marL="342900" indent="-342900">
              <a:buAutoNum type="arabicPeriod"/>
            </a:pPr>
            <a:r>
              <a:rPr lang="en-US" dirty="0"/>
              <a:t>Practical Work</a:t>
            </a:r>
          </a:p>
          <a:p>
            <a:pPr marL="342900" indent="-342900">
              <a:buAutoNum type="arabicPeriod"/>
            </a:pPr>
            <a:r>
              <a:rPr lang="en-US" dirty="0"/>
              <a:t>Results, Analysis and Evaluation </a:t>
            </a:r>
          </a:p>
          <a:p>
            <a:pPr marL="342900" indent="-342900">
              <a:buAutoNum type="arabicPeriod"/>
            </a:pPr>
            <a:r>
              <a:rPr lang="en-US" dirty="0"/>
              <a:t>Project Evaluation </a:t>
            </a:r>
          </a:p>
          <a:p>
            <a:pPr marL="342900" indent="-342900">
              <a:buAutoNum type="arabicPeriod"/>
            </a:pPr>
            <a:r>
              <a:rPr lang="en-US" dirty="0"/>
              <a:t>Conclusions and Recommendations </a:t>
            </a:r>
          </a:p>
          <a:p>
            <a:r>
              <a:rPr lang="en-US" dirty="0"/>
              <a:t>REFERENCES </a:t>
            </a:r>
          </a:p>
          <a:p>
            <a:r>
              <a:rPr lang="en-US" dirty="0"/>
              <a:t>APPENDICES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3BE2B6-E6E8-DAC0-8190-673FEEE1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</a:t>
            </a:r>
          </a:p>
        </p:txBody>
      </p:sp>
      <p:pic>
        <p:nvPicPr>
          <p:cNvPr id="5" name="Picture 4" descr="A black silhouette of a person holding a piece of paper&#10;&#10;Description automatically generated">
            <a:extLst>
              <a:ext uri="{FF2B5EF4-FFF2-40B4-BE49-F238E27FC236}">
                <a16:creationId xmlns:a16="http://schemas.microsoft.com/office/drawing/2014/main" id="{DCAE383B-E642-17B9-3CF0-2FF5C9FE4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281" y="2236572"/>
            <a:ext cx="3063519" cy="334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6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946EAC-FFB8-7DD5-1F4C-E775C4B7A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Abstract </a:t>
            </a:r>
            <a:r>
              <a:rPr lang="en-US" dirty="0"/>
              <a:t>should be a single paragraph of </a:t>
            </a:r>
            <a:r>
              <a:rPr lang="en-US" b="1" dirty="0">
                <a:solidFill>
                  <a:schemeClr val="tx2"/>
                </a:solidFill>
              </a:rPr>
              <a:t>200 – 250 words </a:t>
            </a:r>
            <a:r>
              <a:rPr lang="en-US" dirty="0"/>
              <a:t>summarizing the project.</a:t>
            </a:r>
          </a:p>
          <a:p>
            <a:endParaRPr lang="en-US" dirty="0"/>
          </a:p>
          <a:p>
            <a:r>
              <a:rPr lang="en-US" dirty="0"/>
              <a:t>It should include the following: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Motivation for the project</a:t>
            </a:r>
          </a:p>
          <a:p>
            <a:pPr lvl="1"/>
            <a:r>
              <a:rPr lang="en-US" dirty="0"/>
              <a:t>Research aim / hypothesis </a:t>
            </a:r>
          </a:p>
          <a:p>
            <a:pPr lvl="1"/>
            <a:r>
              <a:rPr lang="en-US" dirty="0"/>
              <a:t>Research approach </a:t>
            </a:r>
          </a:p>
          <a:p>
            <a:pPr lvl="1"/>
            <a:r>
              <a:rPr lang="en-US" dirty="0"/>
              <a:t>Key findings </a:t>
            </a:r>
          </a:p>
          <a:p>
            <a:pPr lvl="1"/>
            <a:r>
              <a:rPr lang="en-US" dirty="0"/>
              <a:t>Conclusions </a:t>
            </a:r>
          </a:p>
          <a:p>
            <a:pPr lvl="1"/>
            <a:endParaRPr lang="en-US" dirty="0"/>
          </a:p>
          <a:p>
            <a:r>
              <a:rPr lang="en-US" dirty="0"/>
              <a:t>The aim of the </a:t>
            </a:r>
            <a:r>
              <a:rPr lang="en-US" b="1" dirty="0">
                <a:solidFill>
                  <a:schemeClr val="tx2"/>
                </a:solidFill>
              </a:rPr>
              <a:t>Abstract</a:t>
            </a:r>
            <a:r>
              <a:rPr lang="en-US" dirty="0"/>
              <a:t> is to inform the reader of the key elements of the project </a:t>
            </a:r>
          </a:p>
          <a:p>
            <a:endParaRPr lang="en-US" dirty="0"/>
          </a:p>
          <a:p>
            <a:r>
              <a:rPr lang="en-US" b="1" dirty="0"/>
              <a:t>You should write the Abstract </a:t>
            </a:r>
            <a:r>
              <a:rPr lang="en-US" b="1" dirty="0">
                <a:solidFill>
                  <a:schemeClr val="tx2"/>
                </a:solidFill>
              </a:rPr>
              <a:t>last</a:t>
            </a:r>
            <a:r>
              <a:rPr lang="en-US" b="1" dirty="0"/>
              <a:t> after all other chapters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72D9D5-F6AD-CDF6-AACB-CE90BDE6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Abstract </a:t>
            </a:r>
          </a:p>
        </p:txBody>
      </p:sp>
    </p:spTree>
    <p:extLst>
      <p:ext uri="{BB962C8B-B14F-4D97-AF65-F5344CB8AC3E}">
        <p14:creationId xmlns:p14="http://schemas.microsoft.com/office/powerpoint/2010/main" val="354001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B02F2E-EEA6-45B8-5994-CF3EF115D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Introduction</a:t>
            </a:r>
            <a:r>
              <a:rPr lang="en-US" dirty="0"/>
              <a:t> should introduce the main report. </a:t>
            </a:r>
          </a:p>
          <a:p>
            <a:r>
              <a:rPr lang="en-US" dirty="0"/>
              <a:t>It should include a short discussion on each of the following: </a:t>
            </a:r>
          </a:p>
          <a:p>
            <a:endParaRPr lang="en-US" dirty="0"/>
          </a:p>
          <a:p>
            <a:pPr lvl="1"/>
            <a:r>
              <a:rPr lang="en-US" dirty="0"/>
              <a:t>Background / Motivation for the project</a:t>
            </a:r>
          </a:p>
          <a:p>
            <a:pPr lvl="1"/>
            <a:r>
              <a:rPr lang="en-US" dirty="0"/>
              <a:t>Research Aim / Hypothesis / Research Question </a:t>
            </a:r>
          </a:p>
          <a:p>
            <a:pPr lvl="1"/>
            <a:r>
              <a:rPr lang="en-US" dirty="0"/>
              <a:t>Research Objectives (SMART) – should demonstrate the steps required to meet your research aim or answer your research question. </a:t>
            </a:r>
          </a:p>
          <a:p>
            <a:pPr lvl="1"/>
            <a:r>
              <a:rPr lang="en-US" dirty="0"/>
              <a:t>Planned research approach </a:t>
            </a:r>
          </a:p>
          <a:p>
            <a:pPr lvl="1"/>
            <a:r>
              <a:rPr lang="en-US" dirty="0"/>
              <a:t>Structure of the report </a:t>
            </a:r>
          </a:p>
          <a:p>
            <a:pPr lvl="1"/>
            <a:r>
              <a:rPr lang="en-US" dirty="0" err="1"/>
              <a:t>SEPLi</a:t>
            </a:r>
            <a:r>
              <a:rPr lang="en-US" dirty="0"/>
              <a:t> (Social, Ethical, Professional, Legal issues) </a:t>
            </a:r>
          </a:p>
          <a:p>
            <a:pPr lvl="1"/>
            <a:endParaRPr lang="en-US" dirty="0"/>
          </a:p>
          <a:p>
            <a:r>
              <a:rPr lang="en-US" dirty="0"/>
              <a:t> It should not discuss the main results and conclusions from the research project.</a:t>
            </a:r>
          </a:p>
          <a:p>
            <a:r>
              <a:rPr lang="en-US" dirty="0"/>
              <a:t>The two main functions of the Introduction are to introduce the main ideas and approach for the research project and signpost the reader to the relevant chapters.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D243D8-994F-B121-B980-F2B5BB38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Introduction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C59BE-DA0B-FFFA-9B77-A05048675403}"/>
              </a:ext>
            </a:extLst>
          </p:cNvPr>
          <p:cNvSpPr txBox="1"/>
          <p:nvPr/>
        </p:nvSpPr>
        <p:spPr>
          <a:xfrm>
            <a:off x="7680206" y="1005674"/>
            <a:ext cx="4093832" cy="147732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IMPORTANT! </a:t>
            </a:r>
          </a:p>
          <a:p>
            <a:endParaRPr lang="en-US" b="1" dirty="0"/>
          </a:p>
          <a:p>
            <a:r>
              <a:rPr lang="en-US" b="1" dirty="0"/>
              <a:t>The Introduction is usually written in stages as you carry out the project</a:t>
            </a:r>
          </a:p>
        </p:txBody>
      </p:sp>
    </p:spTree>
    <p:extLst>
      <p:ext uri="{BB962C8B-B14F-4D97-AF65-F5344CB8AC3E}">
        <p14:creationId xmlns:p14="http://schemas.microsoft.com/office/powerpoint/2010/main" val="327407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5722E0-CEDA-4B9E-C661-104E8F6D34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Literature Review should consist of a careful selection of relevant papers and a </a:t>
            </a:r>
            <a:r>
              <a:rPr lang="en-US" sz="2000" b="1" dirty="0">
                <a:solidFill>
                  <a:schemeClr val="tx2"/>
                </a:solidFill>
              </a:rPr>
              <a:t>critical</a:t>
            </a:r>
            <a:r>
              <a:rPr lang="en-US" sz="2000" dirty="0"/>
              <a:t> review and </a:t>
            </a:r>
            <a:r>
              <a:rPr lang="en-US" sz="2000" b="1" dirty="0">
                <a:solidFill>
                  <a:schemeClr val="tx2"/>
                </a:solidFill>
              </a:rPr>
              <a:t>evaluation</a:t>
            </a:r>
            <a:r>
              <a:rPr lang="en-US" sz="2000" dirty="0"/>
              <a:t> of these. </a:t>
            </a:r>
          </a:p>
          <a:p>
            <a:endParaRPr lang="en-US" sz="2000" dirty="0"/>
          </a:p>
          <a:p>
            <a:r>
              <a:rPr lang="en-US" sz="2000" dirty="0"/>
              <a:t>It should follow a </a:t>
            </a:r>
            <a:r>
              <a:rPr lang="en-US" sz="2000" b="1" dirty="0">
                <a:solidFill>
                  <a:schemeClr val="tx2"/>
                </a:solidFill>
              </a:rPr>
              <a:t>logical structure </a:t>
            </a:r>
          </a:p>
          <a:p>
            <a:endParaRPr lang="en-US" sz="2000" dirty="0"/>
          </a:p>
          <a:p>
            <a:r>
              <a:rPr lang="en-US" sz="2000" dirty="0"/>
              <a:t>Should provide a </a:t>
            </a:r>
            <a:r>
              <a:rPr lang="en-US" sz="2000" b="1" dirty="0">
                <a:solidFill>
                  <a:schemeClr val="tx2"/>
                </a:solidFill>
              </a:rPr>
              <a:t>coherent argument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chemeClr val="tx2"/>
                </a:solidFill>
              </a:rPr>
              <a:t>background</a:t>
            </a:r>
            <a:r>
              <a:rPr lang="en-US" sz="2000" dirty="0"/>
              <a:t> to your proposed study. </a:t>
            </a:r>
          </a:p>
          <a:p>
            <a:endParaRPr lang="en-US" sz="2000" dirty="0"/>
          </a:p>
          <a:p>
            <a:r>
              <a:rPr lang="en-US" sz="2000" dirty="0"/>
              <a:t>The research aim / hypothesis should be the natural conclusion of the literature review.</a:t>
            </a:r>
          </a:p>
          <a:p>
            <a:pPr lvl="1"/>
            <a:r>
              <a:rPr lang="en-US" sz="2000" dirty="0"/>
              <a:t>It should be clear from your Literature Review why your research aim is worth investigating.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5E8217-B980-5CD9-9E0A-E7555046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92"/>
            <a:ext cx="10515600" cy="1080000"/>
          </a:xfrm>
        </p:spPr>
        <p:txBody>
          <a:bodyPr/>
          <a:lstStyle/>
          <a:p>
            <a:r>
              <a:rPr lang="en-US" dirty="0"/>
              <a:t>Dissertation Structure – Literature Review </a:t>
            </a:r>
          </a:p>
        </p:txBody>
      </p:sp>
      <p:pic>
        <p:nvPicPr>
          <p:cNvPr id="7" name="Picture 6" descr="A close-up of a notebook&#10;&#10;Description automatically generated">
            <a:extLst>
              <a:ext uri="{FF2B5EF4-FFF2-40B4-BE49-F238E27FC236}">
                <a16:creationId xmlns:a16="http://schemas.microsoft.com/office/drawing/2014/main" id="{5C37C92E-A0B6-6569-53B0-CEF7162D9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744" y="4885206"/>
            <a:ext cx="1429056" cy="105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8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80F8DB6-453A-45A5-8E71-AE86EACB1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289" y="158485"/>
            <a:ext cx="10515600" cy="1080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chemeClr val="bg2"/>
                </a:solidFill>
              </a:rPr>
              <a:t>Approaching the task of reading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87879C6-FE67-4651-9C1A-D4FE683888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289" y="1333765"/>
            <a:ext cx="10818102" cy="5365750"/>
          </a:xfrm>
        </p:spPr>
        <p:txBody>
          <a:bodyPr/>
          <a:lstStyle/>
          <a:p>
            <a:pPr marL="469900" indent="-469900">
              <a:lnSpc>
                <a:spcPct val="90000"/>
              </a:lnSpc>
            </a:pPr>
            <a:r>
              <a:rPr lang="en-GB" altLang="en-US" sz="2800" dirty="0">
                <a:solidFill>
                  <a:schemeClr val="bg2"/>
                </a:solidFill>
              </a:rPr>
              <a:t>Guidance: </a:t>
            </a:r>
            <a:r>
              <a:rPr lang="en-GB" altLang="en-US" sz="2800" dirty="0"/>
              <a:t>Efficient Reading of Papers in Science and Technology</a:t>
            </a:r>
          </a:p>
          <a:p>
            <a:pPr marL="908050" lvl="1" indent="-436563">
              <a:lnSpc>
                <a:spcPct val="90000"/>
              </a:lnSpc>
              <a:buNone/>
            </a:pPr>
            <a:r>
              <a:rPr lang="en-GB" altLang="en-US" sz="2000" dirty="0">
                <a:hlinkClick r:id="rId2"/>
              </a:rPr>
              <a:t>http://www.cs.columbia.edu/~hgs/netbib/efficientReading.pdf</a:t>
            </a:r>
            <a:endParaRPr lang="en-GB" altLang="en-US" sz="2000" dirty="0"/>
          </a:p>
          <a:p>
            <a:pPr marL="908050" lvl="1" indent="-436563">
              <a:lnSpc>
                <a:spcPct val="90000"/>
              </a:lnSpc>
              <a:buNone/>
            </a:pPr>
            <a:endParaRPr lang="en-GB" altLang="en-US" sz="2000" dirty="0"/>
          </a:p>
          <a:p>
            <a:pPr marL="469900" indent="-469900">
              <a:lnSpc>
                <a:spcPct val="90000"/>
              </a:lnSpc>
            </a:pPr>
            <a:r>
              <a:rPr lang="en-GB" altLang="en-US" sz="2800" dirty="0"/>
              <a:t>Different types of reading/reading processes:</a:t>
            </a:r>
          </a:p>
          <a:p>
            <a:pPr marL="908050" lvl="1" indent="-436563">
              <a:lnSpc>
                <a:spcPct val="90000"/>
              </a:lnSpc>
            </a:pPr>
            <a:r>
              <a:rPr lang="en-GB" altLang="en-US" sz="2000" dirty="0"/>
              <a:t>Close reading</a:t>
            </a:r>
          </a:p>
          <a:p>
            <a:pPr marL="908050" lvl="1" indent="-436563">
              <a:lnSpc>
                <a:spcPct val="90000"/>
              </a:lnSpc>
            </a:pPr>
            <a:r>
              <a:rPr lang="en-GB" altLang="en-US" sz="2000" dirty="0"/>
              <a:t>Skim-reading</a:t>
            </a:r>
          </a:p>
          <a:p>
            <a:pPr marL="908050" lvl="1" indent="-436563">
              <a:lnSpc>
                <a:spcPct val="90000"/>
              </a:lnSpc>
            </a:pPr>
            <a:r>
              <a:rPr lang="en-GB" altLang="en-US" sz="2000" dirty="0"/>
              <a:t>Assimilating what you read</a:t>
            </a:r>
          </a:p>
          <a:p>
            <a:pPr marL="908050" lvl="1" indent="-436563">
              <a:lnSpc>
                <a:spcPct val="90000"/>
              </a:lnSpc>
            </a:pPr>
            <a:r>
              <a:rPr lang="en-GB" altLang="en-US" sz="2000" dirty="0"/>
              <a:t>Distinguishing main points from secondary points         </a:t>
            </a:r>
          </a:p>
          <a:p>
            <a:pPr marL="908050" lvl="1" indent="-436563">
              <a:lnSpc>
                <a:spcPct val="90000"/>
              </a:lnSpc>
            </a:pPr>
            <a:r>
              <a:rPr lang="en-GB" altLang="en-US" sz="2000" dirty="0"/>
              <a:t>Predicting         </a:t>
            </a:r>
          </a:p>
          <a:p>
            <a:pPr marL="908050" lvl="1" indent="-436563">
              <a:lnSpc>
                <a:spcPct val="90000"/>
              </a:lnSpc>
            </a:pPr>
            <a:r>
              <a:rPr lang="en-GB" altLang="en-US" sz="2000" dirty="0"/>
              <a:t>Scanning        </a:t>
            </a:r>
          </a:p>
          <a:p>
            <a:pPr marL="908050" lvl="1" indent="-436563">
              <a:lnSpc>
                <a:spcPct val="90000"/>
              </a:lnSpc>
            </a:pPr>
            <a:r>
              <a:rPr lang="en-GB" altLang="en-US" sz="2000" dirty="0"/>
              <a:t>Reading at speed</a:t>
            </a:r>
          </a:p>
          <a:p>
            <a:pPr marL="908050" lvl="1" indent="-436563">
              <a:lnSpc>
                <a:spcPct val="90000"/>
              </a:lnSpc>
              <a:buNone/>
            </a:pPr>
            <a:r>
              <a:rPr lang="en-GB" altLang="en-US" sz="2000" dirty="0"/>
              <a:t>etc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9082E08-9B4C-4ED4-9EF0-E2FBAF998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sz="4000" dirty="0"/>
              <a:t>Reading, thinking and writing </a:t>
            </a:r>
            <a:r>
              <a:rPr lang="en-GB" altLang="en-US" sz="4000" dirty="0">
                <a:solidFill>
                  <a:schemeClr val="accent2"/>
                </a:solidFill>
              </a:rPr>
              <a:t>critically</a:t>
            </a:r>
            <a:r>
              <a:rPr lang="en-GB" altLang="en-US" sz="4000" dirty="0"/>
              <a:t> 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9D1960E-4B8C-47BE-A0A8-611902FEDF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260000"/>
            <a:ext cx="10607936" cy="45259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90000"/>
              </a:lnSpc>
              <a:buFontTx/>
              <a:buAutoNum type="arabicPeriod"/>
            </a:pPr>
            <a:r>
              <a:rPr lang="en-GB" altLang="en-US" sz="2600" dirty="0">
                <a:solidFill>
                  <a:schemeClr val="tx2"/>
                </a:solidFill>
              </a:rPr>
              <a:t>Critical reading  </a:t>
            </a:r>
            <a:r>
              <a:rPr lang="en-GB" altLang="en-US" sz="2600" dirty="0"/>
              <a:t>- careful, active, reflective, analytic reading, in which you discover information and ideas within a text </a:t>
            </a:r>
          </a:p>
          <a:p>
            <a:pPr lvl="2">
              <a:lnSpc>
                <a:spcPct val="90000"/>
              </a:lnSpc>
            </a:pPr>
            <a:r>
              <a:rPr lang="en-GB" altLang="en-US" sz="2050" dirty="0"/>
              <a:t>But </a:t>
            </a:r>
            <a:r>
              <a:rPr lang="en-GB" altLang="en-US" sz="2050" dirty="0">
                <a:solidFill>
                  <a:schemeClr val="bg2"/>
                </a:solidFill>
              </a:rPr>
              <a:t>discovering new information is not enough!</a:t>
            </a:r>
          </a:p>
          <a:p>
            <a:pPr marL="514350" indent="-514350">
              <a:lnSpc>
                <a:spcPct val="90000"/>
              </a:lnSpc>
              <a:buFontTx/>
              <a:buAutoNum type="arabicPeriod"/>
            </a:pPr>
            <a:r>
              <a:rPr lang="en-GB" altLang="en-US" sz="2600" dirty="0">
                <a:solidFill>
                  <a:schemeClr val="tx2"/>
                </a:solidFill>
              </a:rPr>
              <a:t>Critical thinking  </a:t>
            </a:r>
            <a:r>
              <a:rPr lang="en-GB" altLang="en-US" sz="2600" dirty="0"/>
              <a:t>- reflecting on the </a:t>
            </a:r>
            <a:r>
              <a:rPr lang="en-GB" altLang="en-US" sz="2600" dirty="0">
                <a:solidFill>
                  <a:schemeClr val="bg2"/>
                </a:solidFill>
              </a:rPr>
              <a:t>validity</a:t>
            </a:r>
            <a:r>
              <a:rPr lang="en-GB" altLang="en-US" sz="2600" dirty="0"/>
              <a:t> of what you have read </a:t>
            </a:r>
            <a:r>
              <a:rPr lang="en-GB" altLang="en-US" sz="2600" dirty="0">
                <a:solidFill>
                  <a:srgbClr val="C00000"/>
                </a:solidFill>
              </a:rPr>
              <a:t>in </a:t>
            </a:r>
            <a:r>
              <a:rPr lang="en-GB" altLang="en-US" sz="2600" dirty="0">
                <a:solidFill>
                  <a:schemeClr val="bg2"/>
                </a:solidFill>
              </a:rPr>
              <a:t>light of prior knowledge and understanding </a:t>
            </a:r>
            <a:r>
              <a:rPr lang="en-GB" altLang="en-US" sz="2600" dirty="0"/>
              <a:t>(comparing against other research)</a:t>
            </a:r>
          </a:p>
          <a:p>
            <a:pPr lvl="2">
              <a:lnSpc>
                <a:spcPct val="90000"/>
              </a:lnSpc>
            </a:pPr>
            <a:r>
              <a:rPr lang="en-GB" altLang="en-US" sz="2050" dirty="0"/>
              <a:t>This is ‘taking it to the next stage’ </a:t>
            </a:r>
          </a:p>
          <a:p>
            <a:pPr marL="514350" indent="-514350">
              <a:lnSpc>
                <a:spcPct val="90000"/>
              </a:lnSpc>
              <a:buFontTx/>
              <a:buAutoNum type="arabicPeriod"/>
            </a:pPr>
            <a:r>
              <a:rPr lang="en-GB" altLang="en-US" sz="2600" dirty="0">
                <a:solidFill>
                  <a:schemeClr val="tx2"/>
                </a:solidFill>
              </a:rPr>
              <a:t>Critical writing </a:t>
            </a:r>
            <a:r>
              <a:rPr lang="en-GB" altLang="en-US" sz="2600" dirty="0"/>
              <a:t>– </a:t>
            </a:r>
            <a:r>
              <a:rPr lang="en-GB" altLang="en-US" sz="2600" dirty="0">
                <a:solidFill>
                  <a:schemeClr val="bg2"/>
                </a:solidFill>
              </a:rPr>
              <a:t>putting the thinking stage onto paper effectively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659B98D-6265-4A28-BA0C-051308452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8500" y="201515"/>
            <a:ext cx="10898393" cy="1080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 sz="4000" dirty="0">
                <a:solidFill>
                  <a:schemeClr val="accent2"/>
                </a:solidFill>
              </a:rPr>
              <a:t>Deciding on your research chapter’s structure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E0F597E-5457-4E74-ABCF-20CD30B746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8500" y="1281515"/>
            <a:ext cx="11016727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200" dirty="0"/>
              <a:t>Consider whether you are going to:</a:t>
            </a:r>
          </a:p>
          <a:p>
            <a:pPr lvl="1" eaLnBrk="1" hangingPunct="1"/>
            <a:r>
              <a:rPr lang="en-GB" altLang="en-US" sz="2800" dirty="0">
                <a:solidFill>
                  <a:schemeClr val="accent2"/>
                </a:solidFill>
              </a:rPr>
              <a:t>Compare &amp; contrast 2 or more theories/developments</a:t>
            </a:r>
          </a:p>
          <a:p>
            <a:pPr lvl="1" eaLnBrk="1" hangingPunct="1"/>
            <a:r>
              <a:rPr lang="en-GB" altLang="en-US" sz="2800" dirty="0">
                <a:solidFill>
                  <a:srgbClr val="008000"/>
                </a:solidFill>
              </a:rPr>
              <a:t>Place theories/developments into historical or technical-developmental context</a:t>
            </a:r>
          </a:p>
          <a:p>
            <a:pPr lvl="1" eaLnBrk="1" hangingPunct="1"/>
            <a:r>
              <a:rPr lang="en-GB" altLang="en-US" sz="2800" dirty="0">
                <a:solidFill>
                  <a:srgbClr val="FF0000"/>
                </a:solidFill>
              </a:rPr>
              <a:t>Take issue with the various theories, pointing out their limitations</a:t>
            </a:r>
          </a:p>
          <a:p>
            <a:pPr eaLnBrk="1" hangingPunct="1"/>
            <a:r>
              <a:rPr lang="en-GB" altLang="en-US" sz="3200" dirty="0"/>
              <a:t>Consider whether you are writing as an authority with a strong opinion or whether you are ambivalent about the various theories</a:t>
            </a:r>
          </a:p>
          <a:p>
            <a:pPr lvl="1" eaLnBrk="1" hangingPunct="1"/>
            <a:endParaRPr lang="en-GB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4">
            <a:extLst>
              <a:ext uri="{FF2B5EF4-FFF2-40B4-BE49-F238E27FC236}">
                <a16:creationId xmlns:a16="http://schemas.microsoft.com/office/drawing/2014/main" id="{F3BD969F-8694-44C1-98DA-CA067AB2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/>
              <a:t>Funnel!</a:t>
            </a:r>
          </a:p>
        </p:txBody>
      </p:sp>
      <p:pic>
        <p:nvPicPr>
          <p:cNvPr id="58371" name="Picture 6">
            <a:extLst>
              <a:ext uri="{FF2B5EF4-FFF2-40B4-BE49-F238E27FC236}">
                <a16:creationId xmlns:a16="http://schemas.microsoft.com/office/drawing/2014/main" id="{2AF0F826-DB6A-4AC3-8A2B-61619D2B0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82" y="1260000"/>
            <a:ext cx="4114780" cy="4144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TextBox 7">
            <a:extLst>
              <a:ext uri="{FF2B5EF4-FFF2-40B4-BE49-F238E27FC236}">
                <a16:creationId xmlns:a16="http://schemas.microsoft.com/office/drawing/2014/main" id="{89BE5AA0-78A2-4989-9762-4B9EAA1C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408554"/>
            <a:ext cx="4503718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dirty="0"/>
              <a:t>Broad topic, Definitions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/>
              <a:t>Becoming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/>
              <a:t>more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/>
              <a:t>Focused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Very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 focused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conclusions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A5FD19-FD65-E4B8-5922-98705EC962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Chapters 3 and 4 should discuss the </a:t>
            </a:r>
            <a:r>
              <a:rPr lang="en-US" sz="2000" b="1" dirty="0">
                <a:solidFill>
                  <a:schemeClr val="tx2"/>
                </a:solidFill>
              </a:rPr>
              <a:t>practical / technical </a:t>
            </a:r>
            <a:r>
              <a:rPr lang="en-US" sz="2000" dirty="0"/>
              <a:t>aspects of your project. </a:t>
            </a:r>
          </a:p>
          <a:p>
            <a:endParaRPr lang="en-US" sz="2000" dirty="0"/>
          </a:p>
          <a:p>
            <a:r>
              <a:rPr lang="en-US" sz="2000" dirty="0"/>
              <a:t>If a </a:t>
            </a:r>
            <a:r>
              <a:rPr lang="en-US" sz="2000" b="1" dirty="0">
                <a:solidFill>
                  <a:schemeClr val="bg2"/>
                </a:solidFill>
              </a:rPr>
              <a:t>significant product </a:t>
            </a:r>
            <a:r>
              <a:rPr lang="en-US" sz="2000" dirty="0"/>
              <a:t>has been built then the dissertation should include a discussion of each stage of the </a:t>
            </a:r>
            <a:r>
              <a:rPr lang="en-US" sz="2000" b="1" dirty="0">
                <a:solidFill>
                  <a:schemeClr val="tx2"/>
                </a:solidFill>
              </a:rPr>
              <a:t>product development life cycle</a:t>
            </a:r>
            <a:r>
              <a:rPr lang="en-US" sz="2000" dirty="0"/>
              <a:t>, including: </a:t>
            </a:r>
          </a:p>
          <a:p>
            <a:endParaRPr lang="en-US" sz="2000" dirty="0"/>
          </a:p>
          <a:p>
            <a:pPr lvl="1"/>
            <a:r>
              <a:rPr lang="en-US" sz="2000" dirty="0"/>
              <a:t>Definition of requirements </a:t>
            </a:r>
          </a:p>
          <a:p>
            <a:pPr lvl="1"/>
            <a:r>
              <a:rPr lang="en-US" sz="2000" dirty="0"/>
              <a:t>Design of product</a:t>
            </a:r>
          </a:p>
          <a:p>
            <a:pPr lvl="1"/>
            <a:r>
              <a:rPr lang="en-US" sz="2000" dirty="0"/>
              <a:t>Implementation / build</a:t>
            </a:r>
          </a:p>
          <a:p>
            <a:pPr lvl="1"/>
            <a:r>
              <a:rPr lang="en-US" sz="2000" dirty="0"/>
              <a:t>Testing </a:t>
            </a:r>
          </a:p>
          <a:p>
            <a:pPr lvl="1"/>
            <a:endParaRPr lang="en-US" sz="2000" dirty="0"/>
          </a:p>
          <a:p>
            <a:r>
              <a:rPr lang="en-US" sz="2000" dirty="0"/>
              <a:t>Along with consideration of any tools and technologies used.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43F470-3F28-399B-020B-B7BE9B14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Practical Research Work </a:t>
            </a:r>
          </a:p>
        </p:txBody>
      </p:sp>
    </p:spTree>
    <p:extLst>
      <p:ext uri="{BB962C8B-B14F-4D97-AF65-F5344CB8AC3E}">
        <p14:creationId xmlns:p14="http://schemas.microsoft.com/office/powerpoint/2010/main" val="162059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069A51-AF42-B249-2E23-1D8E71F429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Similarly, if your practical research work has consisted of </a:t>
            </a:r>
            <a:r>
              <a:rPr lang="en-US" b="1" dirty="0">
                <a:solidFill>
                  <a:schemeClr val="bg2"/>
                </a:solidFill>
              </a:rPr>
              <a:t>experimental work, </a:t>
            </a:r>
            <a:r>
              <a:rPr lang="en-US" dirty="0"/>
              <a:t>then these chapters should include a discussion of </a:t>
            </a:r>
            <a:r>
              <a:rPr lang="en-US" b="1" dirty="0">
                <a:solidFill>
                  <a:schemeClr val="tx2"/>
                </a:solidFill>
              </a:rPr>
              <a:t>each stage of the experimental process </a:t>
            </a:r>
            <a:r>
              <a:rPr lang="en-US" dirty="0"/>
              <a:t>including: </a:t>
            </a:r>
          </a:p>
          <a:p>
            <a:endParaRPr lang="en-US" dirty="0"/>
          </a:p>
          <a:p>
            <a:pPr lvl="1"/>
            <a:r>
              <a:rPr lang="en-US" dirty="0"/>
              <a:t>Definition of experimental variables and other requirements </a:t>
            </a:r>
          </a:p>
          <a:p>
            <a:pPr lvl="1"/>
            <a:r>
              <a:rPr lang="en-US" dirty="0"/>
              <a:t>Design of experiments</a:t>
            </a:r>
          </a:p>
          <a:p>
            <a:pPr lvl="1"/>
            <a:r>
              <a:rPr lang="en-US" dirty="0"/>
              <a:t>Implementation </a:t>
            </a:r>
          </a:p>
          <a:p>
            <a:pPr lvl="1"/>
            <a:r>
              <a:rPr lang="en-US" dirty="0"/>
              <a:t>Collection of results </a:t>
            </a:r>
          </a:p>
          <a:p>
            <a:pPr lvl="1"/>
            <a:endParaRPr lang="en-US" dirty="0"/>
          </a:p>
          <a:p>
            <a:r>
              <a:rPr lang="en-US" dirty="0"/>
              <a:t>Along with consideration of any tools and technologies used, these chapters should also outline the choices made along the way with any alternatives considered and the reasons for those choices. </a:t>
            </a:r>
          </a:p>
          <a:p>
            <a:endParaRPr lang="en-US" dirty="0"/>
          </a:p>
          <a:p>
            <a:r>
              <a:rPr lang="en-US" dirty="0"/>
              <a:t>These chapters should also outline the key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SEPLi</a:t>
            </a:r>
            <a:r>
              <a:rPr lang="en-US" b="1" dirty="0">
                <a:solidFill>
                  <a:schemeClr val="tx2"/>
                </a:solidFill>
              </a:rPr>
              <a:t> considerations </a:t>
            </a:r>
            <a:r>
              <a:rPr lang="en-US" dirty="0"/>
              <a:t>and </a:t>
            </a:r>
            <a:r>
              <a:rPr lang="en-US" b="1" dirty="0">
                <a:solidFill>
                  <a:schemeClr val="bg2"/>
                </a:solidFill>
              </a:rPr>
              <a:t>HOW</a:t>
            </a:r>
            <a:r>
              <a:rPr lang="en-US" dirty="0"/>
              <a:t> these have been addressed.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2875F-C6B6-CDC7-328F-61C9D456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Practical Research Work </a:t>
            </a:r>
          </a:p>
        </p:txBody>
      </p:sp>
    </p:spTree>
    <p:extLst>
      <p:ext uri="{BB962C8B-B14F-4D97-AF65-F5344CB8AC3E}">
        <p14:creationId xmlns:p14="http://schemas.microsoft.com/office/powerpoint/2010/main" val="409595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1D6F75-DD27-711E-1121-2226B63A56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95770"/>
            <a:ext cx="10515600" cy="2339159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The content of these chapter(s) depends on the nature of the project </a:t>
            </a:r>
          </a:p>
          <a:p>
            <a:endParaRPr lang="en-US" sz="2600" dirty="0"/>
          </a:p>
          <a:p>
            <a:r>
              <a:rPr lang="en-US" sz="2600" dirty="0"/>
              <a:t>Overall, the idea is to evaluate and discuss how well you have met the project aim and objectives.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FEB8C4-3D0B-8FB8-DF2A-E4B40C6C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Results, Analysis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2562284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FAE3E0-EDC5-3671-1D43-A05ABDF49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Development Type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A075D-D73E-3BE8-31BA-9E42A649AF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 analysis of to what extent the product created OR the method used to create the product meets evaluation criteria. </a:t>
            </a:r>
          </a:p>
          <a:p>
            <a:endParaRPr lang="en-US" sz="2000" dirty="0"/>
          </a:p>
          <a:p>
            <a:r>
              <a:rPr lang="en-US" sz="2000" dirty="0"/>
              <a:t>This chapter should discuss: </a:t>
            </a:r>
          </a:p>
          <a:p>
            <a:pPr lvl="1"/>
            <a:r>
              <a:rPr lang="en-US" sz="2000" dirty="0"/>
              <a:t>The choice of criteria </a:t>
            </a:r>
          </a:p>
          <a:p>
            <a:pPr lvl="1"/>
            <a:r>
              <a:rPr lang="en-US" sz="2000" dirty="0"/>
              <a:t>How the criteria were measured </a:t>
            </a:r>
          </a:p>
          <a:p>
            <a:pPr lvl="1"/>
            <a:r>
              <a:rPr lang="en-US" sz="2000" dirty="0"/>
              <a:t>The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3424-66D3-F9AD-11BA-625C72569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/>
              <a:t>Experimental Type Project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600E63-D128-EABC-51D5-8AD0EC40375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 analysis of the results of the experiments. </a:t>
            </a:r>
          </a:p>
          <a:p>
            <a:endParaRPr lang="en-US" sz="2000" dirty="0"/>
          </a:p>
          <a:p>
            <a:r>
              <a:rPr lang="en-US" sz="2000" dirty="0"/>
              <a:t>This chapter should discuss: </a:t>
            </a:r>
          </a:p>
          <a:p>
            <a:pPr lvl="1"/>
            <a:r>
              <a:rPr lang="en-US" sz="2000" dirty="0"/>
              <a:t>The results </a:t>
            </a:r>
          </a:p>
          <a:p>
            <a:pPr lvl="1"/>
            <a:r>
              <a:rPr lang="en-US" sz="2000" dirty="0"/>
              <a:t>Statistical significance of the results </a:t>
            </a:r>
          </a:p>
          <a:p>
            <a:pPr lvl="1"/>
            <a:r>
              <a:rPr lang="en-US" sz="2000" dirty="0"/>
              <a:t>Reliability of the results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B2C855-7DDD-294C-4525-BFE2489E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Results, Analysis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363405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383252-3C66-4BBF-3FFF-52B77DC104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For studies involving </a:t>
            </a:r>
            <a:r>
              <a:rPr lang="en-US" sz="2000" b="1" dirty="0">
                <a:solidFill>
                  <a:schemeClr val="tx2"/>
                </a:solidFill>
              </a:rPr>
              <a:t>qualitative</a:t>
            </a:r>
            <a:r>
              <a:rPr lang="en-US" sz="2000" dirty="0"/>
              <a:t> data collection you should also discuss: </a:t>
            </a:r>
          </a:p>
          <a:p>
            <a:pPr lvl="1"/>
            <a:r>
              <a:rPr lang="en-US" sz="1800" dirty="0"/>
              <a:t>Analysis of the findings from the data </a:t>
            </a:r>
          </a:p>
          <a:p>
            <a:pPr lvl="1"/>
            <a:r>
              <a:rPr lang="en-US" sz="1800" dirty="0"/>
              <a:t>Consideration of the depth of the findings</a:t>
            </a:r>
          </a:p>
          <a:p>
            <a:pPr lvl="1"/>
            <a:r>
              <a:rPr lang="en-US" sz="1800" dirty="0"/>
              <a:t>Reliability </a:t>
            </a:r>
          </a:p>
          <a:p>
            <a:pPr lvl="1"/>
            <a:r>
              <a:rPr lang="en-US" sz="1800" dirty="0"/>
              <a:t>Significance</a:t>
            </a:r>
          </a:p>
          <a:p>
            <a:pPr lvl="1"/>
            <a:endParaRPr lang="en-US" dirty="0"/>
          </a:p>
          <a:p>
            <a:r>
              <a:rPr lang="en-US" sz="2000" dirty="0"/>
              <a:t>You also need to include in this chapter: </a:t>
            </a:r>
          </a:p>
          <a:p>
            <a:pPr lvl="1"/>
            <a:r>
              <a:rPr lang="en-US" sz="1800" dirty="0"/>
              <a:t>Anything that happened during the project which may have affected your main results or findings </a:t>
            </a:r>
          </a:p>
          <a:p>
            <a:pPr lvl="1"/>
            <a:r>
              <a:rPr lang="en-US" sz="1800" dirty="0"/>
              <a:t>How your findings contribute to the </a:t>
            </a:r>
            <a:r>
              <a:rPr lang="en-US" sz="1800" b="1" dirty="0">
                <a:solidFill>
                  <a:schemeClr val="bg2"/>
                </a:solidFill>
              </a:rPr>
              <a:t>wider academic body of knowledge</a:t>
            </a:r>
          </a:p>
          <a:p>
            <a:pPr lvl="2"/>
            <a:r>
              <a:rPr lang="en-US" sz="1800" dirty="0"/>
              <a:t>Compare your results / findings with those studies included in your </a:t>
            </a:r>
            <a:r>
              <a:rPr lang="en-US" sz="1800" b="1" dirty="0">
                <a:solidFill>
                  <a:schemeClr val="bg2"/>
                </a:solidFill>
              </a:rPr>
              <a:t>Literature Review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23BAC1-9575-C587-8D64-809DDF1BF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Results, Analysis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6632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6DC501-20D6-29C4-B9CD-AF62A541F3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1633" y="1404938"/>
            <a:ext cx="6501714" cy="4538662"/>
          </a:xfrm>
        </p:spPr>
        <p:txBody>
          <a:bodyPr>
            <a:normAutofit/>
          </a:bodyPr>
          <a:lstStyle/>
          <a:p>
            <a:r>
              <a:rPr lang="en-US" dirty="0"/>
              <a:t>Use of </a:t>
            </a:r>
            <a:r>
              <a:rPr lang="en-US" b="1" dirty="0">
                <a:solidFill>
                  <a:schemeClr val="bg2"/>
                </a:solidFill>
              </a:rPr>
              <a:t>figures</a:t>
            </a:r>
            <a:r>
              <a:rPr lang="en-US" dirty="0"/>
              <a:t> (diagrams, charts, plots, graphs etc.) is an effective way to demonstrate and open discussion of your results and findings. </a:t>
            </a:r>
          </a:p>
          <a:p>
            <a:endParaRPr lang="en-US" dirty="0"/>
          </a:p>
          <a:p>
            <a:r>
              <a:rPr lang="en-US" dirty="0"/>
              <a:t>Figures must be labelled and provided with a short title </a:t>
            </a:r>
          </a:p>
          <a:p>
            <a:pPr lvl="1"/>
            <a:r>
              <a:rPr lang="en-US" sz="1800" dirty="0"/>
              <a:t>If you are using an image or figure from a source this </a:t>
            </a:r>
            <a:r>
              <a:rPr lang="en-US" sz="1800" b="1" dirty="0">
                <a:solidFill>
                  <a:schemeClr val="tx2"/>
                </a:solidFill>
              </a:rPr>
              <a:t>MUST</a:t>
            </a:r>
            <a:r>
              <a:rPr lang="en-US" sz="1800" dirty="0"/>
              <a:t> be referenced. </a:t>
            </a:r>
          </a:p>
          <a:p>
            <a:pPr lvl="1"/>
            <a:endParaRPr lang="en-US" sz="1800" dirty="0"/>
          </a:p>
          <a:p>
            <a:r>
              <a:rPr lang="en-US" dirty="0"/>
              <a:t>You can include </a:t>
            </a:r>
            <a:r>
              <a:rPr lang="en-US" b="1" dirty="0">
                <a:solidFill>
                  <a:schemeClr val="bg2"/>
                </a:solidFill>
              </a:rPr>
              <a:t>code snippets </a:t>
            </a:r>
            <a:r>
              <a:rPr lang="en-US" dirty="0"/>
              <a:t>within your Dissertation, however these must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Courier </a:t>
            </a:r>
            <a:r>
              <a:rPr lang="en-US" dirty="0">
                <a:cs typeface="Courier New" panose="02070309020205020404" pitchFamily="49" charset="0"/>
              </a:rPr>
              <a:t>font</a:t>
            </a:r>
          </a:p>
          <a:p>
            <a:pPr lvl="1"/>
            <a:r>
              <a:rPr lang="en-US" sz="1800" dirty="0"/>
              <a:t>Screenshots of code should be avoided.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257230-88A3-40B0-8624-94CD6AEB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Presenting Results – Use of Figures and Code Snippets </a:t>
            </a:r>
          </a:p>
        </p:txBody>
      </p:sp>
      <p:pic>
        <p:nvPicPr>
          <p:cNvPr id="5" name="Picture 4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3C3F5B6A-359F-BDBC-BC35-BF49FABC0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260000"/>
            <a:ext cx="5214497" cy="31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7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A34129-272A-04C7-131A-38D4B30ECF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chapter should evaluate </a:t>
            </a:r>
            <a:r>
              <a:rPr lang="en-US" b="1" dirty="0">
                <a:solidFill>
                  <a:schemeClr val="tx2"/>
                </a:solidFill>
              </a:rPr>
              <a:t>two</a:t>
            </a:r>
            <a:r>
              <a:rPr lang="en-US" dirty="0"/>
              <a:t> aspects: </a:t>
            </a:r>
          </a:p>
          <a:p>
            <a:pPr lvl="1"/>
            <a:r>
              <a:rPr lang="en-US" dirty="0"/>
              <a:t>The quality of the </a:t>
            </a:r>
            <a:r>
              <a:rPr lang="en-US" b="1" dirty="0">
                <a:solidFill>
                  <a:schemeClr val="bg2"/>
                </a:solidFill>
              </a:rPr>
              <a:t>research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chemeClr val="bg2"/>
                </a:solidFill>
              </a:rPr>
              <a:t>journey</a:t>
            </a:r>
            <a:r>
              <a:rPr lang="en-US" dirty="0"/>
              <a:t> you have gone through </a:t>
            </a:r>
          </a:p>
          <a:p>
            <a:pPr lvl="1"/>
            <a:endParaRPr lang="en-US" dirty="0"/>
          </a:p>
          <a:p>
            <a:r>
              <a:rPr lang="en-US" dirty="0"/>
              <a:t>For the </a:t>
            </a:r>
            <a:r>
              <a:rPr lang="en-US" b="1" dirty="0">
                <a:solidFill>
                  <a:schemeClr val="bg2"/>
                </a:solidFill>
              </a:rPr>
              <a:t>research</a:t>
            </a:r>
            <a:r>
              <a:rPr lang="en-US" dirty="0"/>
              <a:t> itself, consider: </a:t>
            </a:r>
          </a:p>
          <a:p>
            <a:pPr lvl="1"/>
            <a:r>
              <a:rPr lang="en-US" dirty="0"/>
              <a:t>How well was each objective met? </a:t>
            </a:r>
          </a:p>
          <a:p>
            <a:pPr lvl="1"/>
            <a:r>
              <a:rPr lang="en-US" dirty="0"/>
              <a:t>How successful was each stage of the project </a:t>
            </a:r>
          </a:p>
          <a:p>
            <a:pPr lvl="1">
              <a:spcAft>
                <a:spcPts val="450"/>
              </a:spcAft>
            </a:pPr>
            <a:r>
              <a:rPr lang="en-US" dirty="0"/>
              <a:t>How effective was the literature review? Is it possible that there were </a:t>
            </a:r>
            <a:r>
              <a:rPr lang="en-GB" b="0" i="0" dirty="0">
                <a:effectLst/>
              </a:rPr>
              <a:t>relevant techniques or issues that were ignored?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Were there alternative aims/hypotheses that could have been tested?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For developmental projects, what other evaluation criteria could have been considered?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For experimental studies, how complete were the experimental results; how reliable are the conclusions?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For more qualitative studies, how robust was the data collection and analysis; how reliable is the data and were there any limiting factors?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CBE9F1-4FBA-E311-6E71-D29C33E0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Project Evaluation </a:t>
            </a:r>
          </a:p>
        </p:txBody>
      </p:sp>
    </p:spTree>
    <p:extLst>
      <p:ext uri="{BB962C8B-B14F-4D97-AF65-F5344CB8AC3E}">
        <p14:creationId xmlns:p14="http://schemas.microsoft.com/office/powerpoint/2010/main" val="344444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32C38D-7DEF-AF2B-A85C-901605C405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For the </a:t>
            </a:r>
            <a:r>
              <a:rPr lang="en-US" sz="2000" b="1" dirty="0">
                <a:solidFill>
                  <a:schemeClr val="bg2"/>
                </a:solidFill>
              </a:rPr>
              <a:t>learning journey</a:t>
            </a:r>
            <a:r>
              <a:rPr lang="en-US" sz="2000" dirty="0"/>
              <a:t>, consider: </a:t>
            </a:r>
          </a:p>
          <a:p>
            <a:pPr lvl="1"/>
            <a:r>
              <a:rPr lang="en-US" sz="1800" dirty="0"/>
              <a:t>What have you learnt by doing the project? (Think about both ‘soft skills’ and technical skills) </a:t>
            </a:r>
          </a:p>
          <a:p>
            <a:pPr lvl="1"/>
            <a:r>
              <a:rPr lang="en-US" sz="1800" dirty="0"/>
              <a:t>What worked well? </a:t>
            </a:r>
          </a:p>
          <a:p>
            <a:pPr lvl="1"/>
            <a:r>
              <a:rPr lang="en-US" sz="1800" dirty="0"/>
              <a:t>What could you have improved? </a:t>
            </a:r>
          </a:p>
          <a:p>
            <a:pPr lvl="1"/>
            <a:r>
              <a:rPr lang="en-US" sz="1800" dirty="0"/>
              <a:t>How successful was your project management approach? 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dirty="0"/>
              <a:t>You should also evaluate the key social, ethical, professional and legal issues and HOW WELL you think you addressed these. 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B0B589-6429-BFED-840F-D7FAE15D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Project Evaluation </a:t>
            </a:r>
          </a:p>
        </p:txBody>
      </p:sp>
      <p:pic>
        <p:nvPicPr>
          <p:cNvPr id="5" name="Picture 4" descr="A road going through a mountain&#10;&#10;Description automatically generated">
            <a:extLst>
              <a:ext uri="{FF2B5EF4-FFF2-40B4-BE49-F238E27FC236}">
                <a16:creationId xmlns:a16="http://schemas.microsoft.com/office/drawing/2014/main" id="{605B3731-F981-C660-F6B9-96B06658D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643" y="188168"/>
            <a:ext cx="2589351" cy="145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3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221E12-FFCE-ADA9-ACB0-E4F716B145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bg2"/>
                </a:solidFill>
              </a:rPr>
              <a:t>Conclusions</a:t>
            </a:r>
            <a:r>
              <a:rPr lang="en-US" dirty="0"/>
              <a:t> should present the answer to the original research question </a:t>
            </a:r>
          </a:p>
          <a:p>
            <a:endParaRPr lang="en-US" dirty="0"/>
          </a:p>
          <a:p>
            <a:r>
              <a:rPr lang="en-US" dirty="0"/>
              <a:t>You should also discuss any other conclusions reached along your project journey </a:t>
            </a:r>
          </a:p>
          <a:p>
            <a:pPr lvl="1"/>
            <a:r>
              <a:rPr lang="en-US" dirty="0"/>
              <a:t>E.g. Best choice of tools or technologies </a:t>
            </a:r>
          </a:p>
          <a:p>
            <a:pPr lvl="1"/>
            <a:endParaRPr lang="en-US" dirty="0"/>
          </a:p>
          <a:p>
            <a:r>
              <a:rPr lang="en-US" dirty="0"/>
              <a:t>There should be no ‘surprises’ in this chapter </a:t>
            </a:r>
          </a:p>
          <a:p>
            <a:pPr lvl="1"/>
            <a:r>
              <a:rPr lang="en-US" dirty="0"/>
              <a:t>Each conclusion should have been noted and evidenced somewhere else in the dissertation 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bg2"/>
                </a:solidFill>
              </a:rPr>
              <a:t>Recommendations</a:t>
            </a:r>
            <a:r>
              <a:rPr lang="en-US" dirty="0"/>
              <a:t> should be included relating to: </a:t>
            </a:r>
          </a:p>
          <a:p>
            <a:pPr lvl="1"/>
            <a:r>
              <a:rPr lang="en-US" dirty="0"/>
              <a:t>Further research </a:t>
            </a:r>
          </a:p>
          <a:p>
            <a:pPr lvl="1"/>
            <a:r>
              <a:rPr lang="en-US" dirty="0"/>
              <a:t>Possible practical applications</a:t>
            </a:r>
          </a:p>
          <a:p>
            <a:pPr lvl="1"/>
            <a:r>
              <a:rPr lang="en-US" dirty="0"/>
              <a:t>Recommendations for future practice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E022DC-5C69-39E7-45C8-EFF34A53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Dissertation Structure – Conclusions and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222846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12B79A-E0CE-68D6-8475-A18EDCCA8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Included at a </a:t>
            </a:r>
            <a:r>
              <a:rPr lang="en-US" b="1" dirty="0">
                <a:solidFill>
                  <a:schemeClr val="tx2"/>
                </a:solidFill>
              </a:rPr>
              <a:t>minimum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Project Proposal form </a:t>
            </a:r>
          </a:p>
          <a:p>
            <a:pPr lvl="1"/>
            <a:r>
              <a:rPr lang="en-US" dirty="0"/>
              <a:t>Project Schedule (</a:t>
            </a:r>
            <a:r>
              <a:rPr lang="en-US"/>
              <a:t>Planning Assessment </a:t>
            </a:r>
            <a:r>
              <a:rPr lang="en-US" dirty="0"/>
              <a:t>– Tables 2.1, 2.2, 2.3, 2.4) </a:t>
            </a:r>
          </a:p>
          <a:p>
            <a:pPr lvl="1"/>
            <a:r>
              <a:rPr lang="en-US" dirty="0"/>
              <a:t>Supervision Meeting Log </a:t>
            </a:r>
          </a:p>
          <a:p>
            <a:pPr lvl="1"/>
            <a:r>
              <a:rPr lang="en-US" dirty="0"/>
              <a:t>Screenshot of Ethical Application Approval email </a:t>
            </a:r>
          </a:p>
          <a:p>
            <a:pPr lvl="1"/>
            <a:r>
              <a:rPr lang="en-US" dirty="0"/>
              <a:t>If you carried out any Qualitative data collection (e.g. questionnaire, semi-structured interview) the questions a copy of this </a:t>
            </a:r>
            <a:r>
              <a:rPr lang="en-US" b="1" dirty="0">
                <a:solidFill>
                  <a:schemeClr val="bg2"/>
                </a:solidFill>
              </a:rPr>
              <a:t>MUST</a:t>
            </a:r>
            <a:r>
              <a:rPr lang="en-US" dirty="0"/>
              <a:t> be included.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tx2"/>
                </a:solidFill>
              </a:rPr>
              <a:t>Additional</a:t>
            </a:r>
            <a:r>
              <a:rPr lang="en-US" dirty="0"/>
              <a:t> evidence which can be included (must be cited in main text – </a:t>
            </a:r>
            <a:r>
              <a:rPr lang="en-US" dirty="0" err="1"/>
              <a:t>e.g</a:t>
            </a:r>
            <a:r>
              <a:rPr lang="en-US" dirty="0"/>
              <a:t> see A1): </a:t>
            </a:r>
          </a:p>
          <a:p>
            <a:pPr lvl="1"/>
            <a:r>
              <a:rPr lang="en-US" dirty="0"/>
              <a:t>Design documentation (wireframes, user interface mockups) </a:t>
            </a:r>
          </a:p>
          <a:p>
            <a:pPr lvl="1"/>
            <a:r>
              <a:rPr lang="en-US" dirty="0"/>
              <a:t>Code snippets </a:t>
            </a:r>
          </a:p>
          <a:p>
            <a:pPr lvl="1"/>
            <a:r>
              <a:rPr lang="en-US" dirty="0"/>
              <a:t>Correspondence with supervisor / client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0BC862-56CB-064A-401C-AFDE21DA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 </a:t>
            </a:r>
          </a:p>
        </p:txBody>
      </p:sp>
    </p:spTree>
    <p:extLst>
      <p:ext uri="{BB962C8B-B14F-4D97-AF65-F5344CB8AC3E}">
        <p14:creationId xmlns:p14="http://schemas.microsoft.com/office/powerpoint/2010/main" val="265807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4A44-7CED-6E46-BE23-0F520744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174" y="2349000"/>
            <a:ext cx="2327652" cy="1080000"/>
          </a:xfrm>
        </p:spPr>
        <p:txBody>
          <a:bodyPr/>
          <a:lstStyle/>
          <a:p>
            <a:r>
              <a:rPr lang="en-GB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00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9A6A-C780-7076-87F6-ACEA583B2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0D61-B110-1824-4AF0-FF2ABCE2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6200"/>
            <a:ext cx="10515600" cy="1440000"/>
          </a:xfrm>
        </p:spPr>
        <p:txBody>
          <a:bodyPr/>
          <a:lstStyle/>
          <a:p>
            <a:r>
              <a:rPr lang="en-US" dirty="0"/>
              <a:t>Viva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E4435-9A86-4950-FDA1-DEC17D21F57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PROM02 </a:t>
            </a:r>
          </a:p>
        </p:txBody>
      </p:sp>
    </p:spTree>
    <p:extLst>
      <p:ext uri="{BB962C8B-B14F-4D97-AF65-F5344CB8AC3E}">
        <p14:creationId xmlns:p14="http://schemas.microsoft.com/office/powerpoint/2010/main" val="3094612902"/>
      </p:ext>
    </p:extLst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E8B85E-B72C-727F-9806-8C2750FF4B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>
                <a:solidFill>
                  <a:schemeClr val="tx2"/>
                </a:solidFill>
              </a:rPr>
              <a:t>Viva</a:t>
            </a:r>
            <a:r>
              <a:rPr lang="en-US" sz="2000" dirty="0"/>
              <a:t> will consist of: </a:t>
            </a:r>
          </a:p>
          <a:p>
            <a:pPr lvl="1"/>
            <a:r>
              <a:rPr lang="en-US" sz="2000" b="1" dirty="0">
                <a:solidFill>
                  <a:schemeClr val="bg2"/>
                </a:solidFill>
              </a:rPr>
              <a:t>Presentation</a:t>
            </a:r>
            <a:r>
              <a:rPr lang="en-US" sz="2000" dirty="0"/>
              <a:t> – between 10 – 15 minutes </a:t>
            </a:r>
          </a:p>
          <a:p>
            <a:pPr lvl="1"/>
            <a:r>
              <a:rPr lang="en-US" sz="2000" b="1" dirty="0">
                <a:solidFill>
                  <a:schemeClr val="bg2"/>
                </a:solidFill>
              </a:rPr>
              <a:t>Demonstration of technical work </a:t>
            </a:r>
            <a:r>
              <a:rPr lang="en-US" sz="2000" dirty="0"/>
              <a:t>– 5 minutes </a:t>
            </a:r>
          </a:p>
          <a:p>
            <a:pPr lvl="1"/>
            <a:r>
              <a:rPr lang="en-US" sz="2000" b="1" dirty="0">
                <a:solidFill>
                  <a:schemeClr val="bg2"/>
                </a:solidFill>
              </a:rPr>
              <a:t>Questions</a:t>
            </a:r>
            <a:r>
              <a:rPr lang="en-US" sz="2000" dirty="0"/>
              <a:t> – between 10 -15 minutes </a:t>
            </a:r>
          </a:p>
          <a:p>
            <a:pPr lvl="1"/>
            <a:endParaRPr lang="en-US" sz="2000" dirty="0"/>
          </a:p>
          <a:p>
            <a:r>
              <a:rPr lang="en-US" sz="2000" dirty="0"/>
              <a:t>The viva will be attended by your supervisor and second marker </a:t>
            </a:r>
          </a:p>
          <a:p>
            <a:endParaRPr lang="en-US" sz="2000" dirty="0"/>
          </a:p>
          <a:p>
            <a:r>
              <a:rPr lang="en-US" sz="2000" dirty="0"/>
              <a:t>At the discretion of your supervisor your viva may be held in person on Campus or via Teams</a:t>
            </a:r>
          </a:p>
          <a:p>
            <a:endParaRPr lang="en-US" sz="2000" dirty="0"/>
          </a:p>
          <a:p>
            <a:r>
              <a:rPr lang="en-US" sz="2000" dirty="0"/>
              <a:t>A time and data will be arranged between yourself and the supervisory team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FB0C79-D259-1162-5873-EC3CC292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3: Viva – 15% </a:t>
            </a:r>
          </a:p>
        </p:txBody>
      </p:sp>
    </p:spTree>
    <p:extLst>
      <p:ext uri="{BB962C8B-B14F-4D97-AF65-F5344CB8AC3E}">
        <p14:creationId xmlns:p14="http://schemas.microsoft.com/office/powerpoint/2010/main" val="156612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39C1AD-9458-CDE3-D45D-8A917ADD1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presentation section of the viva should last approximately </a:t>
            </a:r>
            <a:r>
              <a:rPr lang="en-US" b="1" dirty="0">
                <a:solidFill>
                  <a:schemeClr val="tx2"/>
                </a:solidFill>
              </a:rPr>
              <a:t>10-15 minutes</a:t>
            </a:r>
          </a:p>
          <a:p>
            <a:endParaRPr lang="en-US" dirty="0"/>
          </a:p>
          <a:p>
            <a:r>
              <a:rPr lang="en-US" dirty="0"/>
              <a:t>You should prepare a set of presentation slides (template on Canvas) with a </a:t>
            </a:r>
            <a:r>
              <a:rPr lang="en-US" b="1" dirty="0">
                <a:solidFill>
                  <a:schemeClr val="tx2"/>
                </a:solidFill>
              </a:rPr>
              <a:t>maximum of 10 slides</a:t>
            </a:r>
          </a:p>
          <a:p>
            <a:pPr lvl="1"/>
            <a:r>
              <a:rPr lang="en-US" sz="1700" dirty="0"/>
              <a:t>These should present both your research and practical elements of your project</a:t>
            </a:r>
          </a:p>
          <a:p>
            <a:pPr lvl="1"/>
            <a:endParaRPr lang="en-US" dirty="0"/>
          </a:p>
          <a:p>
            <a:r>
              <a:rPr lang="en-US" dirty="0"/>
              <a:t>The slides should cover the following: 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GB" b="1" i="0" dirty="0">
                <a:solidFill>
                  <a:schemeClr val="tx2"/>
                </a:solidFill>
                <a:effectLst/>
              </a:rPr>
              <a:t>Introduction: </a:t>
            </a:r>
            <a:r>
              <a:rPr lang="en-GB" b="0" i="0" dirty="0">
                <a:effectLst/>
              </a:rPr>
              <a:t>providing overview for the listeners including purpose, relevance, importance, and objectives of the work you are presenting.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2"/>
                </a:solidFill>
                <a:effectLst/>
              </a:rPr>
              <a:t>Context / Underpinnings: </a:t>
            </a:r>
            <a:r>
              <a:rPr lang="en-GB" b="0" i="0" dirty="0">
                <a:effectLst/>
              </a:rPr>
              <a:t>identifying how you used and applied the research literature and reviews you have undertaken within your research and practical work.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2"/>
                </a:solidFill>
                <a:effectLst/>
              </a:rPr>
              <a:t>Practical Element: </a:t>
            </a:r>
            <a:r>
              <a:rPr lang="en-GB" b="0" i="0" dirty="0">
                <a:effectLst/>
              </a:rPr>
              <a:t>what your practical work involved and how you undertook it including how you applied and integrated research.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2"/>
                </a:solidFill>
                <a:effectLst/>
              </a:rPr>
              <a:t>Outcomes, Results and Evaluation: </a:t>
            </a:r>
            <a:r>
              <a:rPr lang="en-GB" b="0" i="0" dirty="0">
                <a:effectLst/>
              </a:rPr>
              <a:t>how you answered your research question and your client/sponsor requirements through your practical work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chemeClr val="tx2"/>
                </a:solidFill>
                <a:effectLst/>
              </a:rPr>
              <a:t>Discussion: </a:t>
            </a:r>
            <a:r>
              <a:rPr lang="en-GB" b="0" i="0" dirty="0">
                <a:effectLst/>
              </a:rPr>
              <a:t>of outcomes, results, findings, limitations, potential extensions, etc.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F93E2C-9515-AEA4-59A8-191E6BD9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3: Viva – Presentation </a:t>
            </a:r>
          </a:p>
        </p:txBody>
      </p:sp>
    </p:spTree>
    <p:extLst>
      <p:ext uri="{BB962C8B-B14F-4D97-AF65-F5344CB8AC3E}">
        <p14:creationId xmlns:p14="http://schemas.microsoft.com/office/powerpoint/2010/main" val="2758562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190287-2F4B-3698-8343-3E5CFEA8BF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tx2"/>
                </a:solidFill>
              </a:rPr>
              <a:t>Top Tips:</a:t>
            </a:r>
          </a:p>
          <a:p>
            <a:pPr lvl="1"/>
            <a:r>
              <a:rPr lang="en-US" sz="2000" dirty="0"/>
              <a:t>Use the Viva template on Canvas </a:t>
            </a:r>
          </a:p>
          <a:p>
            <a:pPr lvl="1"/>
            <a:r>
              <a:rPr lang="en-US" sz="2000" dirty="0"/>
              <a:t>Don’t over complicate slides </a:t>
            </a:r>
          </a:p>
          <a:p>
            <a:pPr lvl="2"/>
            <a:r>
              <a:rPr lang="en-US" sz="2000" dirty="0"/>
              <a:t>Not too much text</a:t>
            </a:r>
          </a:p>
          <a:p>
            <a:pPr lvl="2"/>
            <a:r>
              <a:rPr lang="en-US" sz="2000" dirty="0"/>
              <a:t>Appropriate font size</a:t>
            </a:r>
          </a:p>
          <a:p>
            <a:pPr lvl="2"/>
            <a:r>
              <a:rPr lang="en-US" sz="2000" dirty="0"/>
              <a:t>Use of images / figures</a:t>
            </a:r>
          </a:p>
          <a:p>
            <a:pPr lvl="2"/>
            <a:r>
              <a:rPr lang="en-US" sz="2000" dirty="0"/>
              <a:t>Make them look professional! </a:t>
            </a:r>
          </a:p>
          <a:p>
            <a:pPr lvl="1"/>
            <a:r>
              <a:rPr lang="en-US" sz="2000" dirty="0"/>
              <a:t>Use the key parts from your Dissertation chapters</a:t>
            </a:r>
          </a:p>
          <a:p>
            <a:pPr lvl="2"/>
            <a:r>
              <a:rPr lang="en-US" sz="2000" dirty="0"/>
              <a:t>The supervision team will be looking for consistency between your Viva and Dissertation </a:t>
            </a:r>
          </a:p>
          <a:p>
            <a:pPr lvl="1"/>
            <a:r>
              <a:rPr lang="en-US" sz="2000" dirty="0"/>
              <a:t>When discussing existing literature cite and reference the authors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BB20DF-67D1-E193-35DE-243D0B75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3: Viva – Presentation </a:t>
            </a:r>
          </a:p>
        </p:txBody>
      </p:sp>
      <p:pic>
        <p:nvPicPr>
          <p:cNvPr id="5" name="Picture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2D2400EF-27D3-0E17-AC27-379E04DB2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622" y="1235077"/>
            <a:ext cx="3915032" cy="22098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587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4CCBDD-86A5-CDC5-7929-EC889074B3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You will have approximately </a:t>
            </a:r>
            <a:r>
              <a:rPr lang="en-US" sz="2000" b="1" dirty="0">
                <a:solidFill>
                  <a:schemeClr val="tx2"/>
                </a:solidFill>
              </a:rPr>
              <a:t>5 minutes </a:t>
            </a:r>
            <a:r>
              <a:rPr lang="en-US" sz="2000" dirty="0"/>
              <a:t>to demo your practical work </a:t>
            </a:r>
          </a:p>
          <a:p>
            <a:endParaRPr lang="en-US" sz="2000" dirty="0"/>
          </a:p>
          <a:p>
            <a:r>
              <a:rPr lang="en-US" sz="2000" dirty="0"/>
              <a:t>Make sure you have the practical work ready and set up so you don’t waste valuable viva time</a:t>
            </a:r>
          </a:p>
          <a:p>
            <a:endParaRPr lang="en-US" sz="2000" dirty="0"/>
          </a:p>
          <a:p>
            <a:r>
              <a:rPr lang="en-US" sz="2000" dirty="0"/>
              <a:t>Use the time to talk through the most </a:t>
            </a:r>
            <a:r>
              <a:rPr lang="en-US" sz="2000" b="1" dirty="0">
                <a:solidFill>
                  <a:schemeClr val="tx2"/>
                </a:solidFill>
              </a:rPr>
              <a:t>pertinent, technically demanding aspect </a:t>
            </a:r>
            <a:r>
              <a:rPr lang="en-US" sz="2000" dirty="0"/>
              <a:t>of the project</a:t>
            </a:r>
          </a:p>
          <a:p>
            <a:pPr lvl="1"/>
            <a:r>
              <a:rPr lang="en-US" sz="2000" dirty="0"/>
              <a:t>Do not spend the 5 minutes talking through the libraries you have used </a:t>
            </a:r>
          </a:p>
          <a:p>
            <a:pPr lvl="1"/>
            <a:endParaRPr lang="en-US" sz="2000" dirty="0"/>
          </a:p>
          <a:p>
            <a:r>
              <a:rPr lang="en-US" sz="2000" dirty="0"/>
              <a:t>The supervisory team will be looking for you to demonstrate </a:t>
            </a:r>
            <a:r>
              <a:rPr lang="en-US" sz="2000" b="1" dirty="0">
                <a:solidFill>
                  <a:schemeClr val="tx2"/>
                </a:solidFill>
              </a:rPr>
              <a:t>confidence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tx2"/>
                </a:solidFill>
              </a:rPr>
              <a:t>competency</a:t>
            </a:r>
            <a:r>
              <a:rPr lang="en-US" sz="2000" dirty="0"/>
              <a:t> in your discussion of the technical 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CE4EC1-5E6C-D9A0-3498-14CE996C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3: Viva - Demo </a:t>
            </a:r>
          </a:p>
        </p:txBody>
      </p:sp>
    </p:spTree>
    <p:extLst>
      <p:ext uri="{BB962C8B-B14F-4D97-AF65-F5344CB8AC3E}">
        <p14:creationId xmlns:p14="http://schemas.microsoft.com/office/powerpoint/2010/main" val="379008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F2882C-FE83-6C4E-D449-4163A521EC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61535"/>
            <a:ext cx="10515600" cy="47820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Either </a:t>
            </a:r>
            <a:r>
              <a:rPr lang="en-US" b="1" dirty="0">
                <a:solidFill>
                  <a:schemeClr val="tx2"/>
                </a:solidFill>
              </a:rPr>
              <a:t>during</a:t>
            </a:r>
            <a:r>
              <a:rPr lang="en-US" dirty="0"/>
              <a:t> or </a:t>
            </a:r>
            <a:r>
              <a:rPr lang="en-US" b="1" dirty="0">
                <a:solidFill>
                  <a:schemeClr val="tx2"/>
                </a:solidFill>
              </a:rPr>
              <a:t>after</a:t>
            </a:r>
            <a:r>
              <a:rPr lang="en-US" dirty="0"/>
              <a:t> your presentation / demo you will be asked questions by the supervisory team that directly related to your project. </a:t>
            </a:r>
          </a:p>
          <a:p>
            <a:endParaRPr lang="en-US" dirty="0"/>
          </a:p>
          <a:p>
            <a:r>
              <a:rPr lang="en-US" dirty="0"/>
              <a:t>They may ask questions about: </a:t>
            </a:r>
          </a:p>
          <a:p>
            <a:pPr lvl="1"/>
            <a:r>
              <a:rPr lang="en-US" dirty="0"/>
              <a:t>The practical work completed</a:t>
            </a:r>
          </a:p>
          <a:p>
            <a:pPr lvl="1"/>
            <a:r>
              <a:rPr lang="en-US" dirty="0"/>
              <a:t>Specific technical questions </a:t>
            </a:r>
          </a:p>
          <a:p>
            <a:pPr lvl="1"/>
            <a:r>
              <a:rPr lang="en-US" dirty="0"/>
              <a:t>Research methodology</a:t>
            </a:r>
          </a:p>
          <a:p>
            <a:pPr lvl="1"/>
            <a:r>
              <a:rPr lang="en-US" dirty="0"/>
              <a:t>Key literature sources </a:t>
            </a:r>
          </a:p>
          <a:p>
            <a:pPr lvl="1"/>
            <a:endParaRPr lang="en-US" dirty="0"/>
          </a:p>
          <a:p>
            <a:r>
              <a:rPr lang="en-US" dirty="0"/>
              <a:t>They will also ask about your </a:t>
            </a:r>
            <a:r>
              <a:rPr lang="en-US" b="1" dirty="0">
                <a:solidFill>
                  <a:schemeClr val="bg2"/>
                </a:solidFill>
              </a:rPr>
              <a:t>project management approach</a:t>
            </a:r>
            <a:r>
              <a:rPr lang="en-US" dirty="0"/>
              <a:t>, the kind of questions you may be asked include: 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How successful were you in achieving the intended objectives for your project?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What approaches did you use to support the management of your project and how effective were these?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Was your approach to integrating the research and practical element appropriate and useful?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Were there tensions, risks, challenges, or issues within your project and if so, how did you deal with them?</a:t>
            </a:r>
          </a:p>
          <a:p>
            <a:pPr lvl="1">
              <a:spcAft>
                <a:spcPts val="450"/>
              </a:spcAft>
            </a:pPr>
            <a:r>
              <a:rPr lang="en-GB" b="0" i="0" dirty="0">
                <a:effectLst/>
              </a:rPr>
              <a:t>What are the key lessons you have learnt about project management from undertaking the project?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2DD967-CF35-4693-2342-1D01C3B0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3: Viva – Questions </a:t>
            </a:r>
          </a:p>
        </p:txBody>
      </p:sp>
    </p:spTree>
    <p:extLst>
      <p:ext uri="{BB962C8B-B14F-4D97-AF65-F5344CB8AC3E}">
        <p14:creationId xmlns:p14="http://schemas.microsoft.com/office/powerpoint/2010/main" val="192049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6167ED-F7AF-A3AC-6907-6A1E4EE7E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60000"/>
            <a:ext cx="10515600" cy="4683600"/>
          </a:xfrm>
        </p:spPr>
        <p:txBody>
          <a:bodyPr>
            <a:noAutofit/>
          </a:bodyPr>
          <a:lstStyle/>
          <a:p>
            <a:r>
              <a:rPr lang="en-US" dirty="0"/>
              <a:t>Be on time to your viva slot </a:t>
            </a:r>
          </a:p>
          <a:p>
            <a:endParaRPr lang="en-US" dirty="0"/>
          </a:p>
          <a:p>
            <a:r>
              <a:rPr lang="en-US" dirty="0"/>
              <a:t>Have your Presentation and Demo ready to go </a:t>
            </a:r>
          </a:p>
          <a:p>
            <a:endParaRPr lang="en-US" dirty="0"/>
          </a:p>
          <a:p>
            <a:r>
              <a:rPr lang="en-US" dirty="0"/>
              <a:t>If your viva is via Teams have your camera on and ensure the audio quality is satisfactory </a:t>
            </a:r>
          </a:p>
          <a:p>
            <a:endParaRPr lang="en-US" dirty="0"/>
          </a:p>
          <a:p>
            <a:r>
              <a:rPr lang="en-US" dirty="0"/>
              <a:t>It’s perfectly normal to be nervous and the supervisory team will understand and be considerate</a:t>
            </a:r>
          </a:p>
          <a:p>
            <a:endParaRPr lang="en-US" dirty="0"/>
          </a:p>
          <a:p>
            <a:r>
              <a:rPr lang="en-US" dirty="0"/>
              <a:t>Take your time to think through your answer to the questions</a:t>
            </a:r>
          </a:p>
          <a:p>
            <a:pPr lvl="1"/>
            <a:r>
              <a:rPr lang="en-US" sz="1800" b="1" dirty="0">
                <a:solidFill>
                  <a:schemeClr val="bg2"/>
                </a:solidFill>
              </a:rPr>
              <a:t>DO NOT </a:t>
            </a:r>
            <a:r>
              <a:rPr lang="en-US" sz="1800" dirty="0"/>
              <a:t>use Google or ChatGPT to generate a response to the viva questions </a:t>
            </a:r>
          </a:p>
          <a:p>
            <a:pPr lvl="1"/>
            <a:r>
              <a:rPr lang="en-US" sz="1800" dirty="0"/>
              <a:t>Be clear and concise in your answer</a:t>
            </a:r>
          </a:p>
          <a:p>
            <a:pPr lvl="1"/>
            <a:r>
              <a:rPr lang="en-US" sz="1800" dirty="0"/>
              <a:t>Feel free to ask the supervisor to repeat a question or explain it further if you’re unsure what they are asking </a:t>
            </a:r>
          </a:p>
          <a:p>
            <a:pPr lvl="1"/>
            <a:r>
              <a:rPr lang="en-US" sz="1800" dirty="0"/>
              <a:t>If you don’t know the answer, be honest and say so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E538D4-D601-B478-23F7-D3DAB488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Viva Advice </a:t>
            </a:r>
          </a:p>
        </p:txBody>
      </p:sp>
      <p:pic>
        <p:nvPicPr>
          <p:cNvPr id="5" name="Picture 4" descr="A yellow and black cartoon character&#10;&#10;Description automatically generated">
            <a:extLst>
              <a:ext uri="{FF2B5EF4-FFF2-40B4-BE49-F238E27FC236}">
                <a16:creationId xmlns:a16="http://schemas.microsoft.com/office/drawing/2014/main" id="{906D8CD1-B8A6-EBDF-D883-1FE165145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757" y="180000"/>
            <a:ext cx="1583080" cy="230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3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788A-1FDC-625A-BEA3-EF89FA5A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FFC0-372C-1725-8C72-50E37E204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174" y="2349000"/>
            <a:ext cx="2327652" cy="1080000"/>
          </a:xfrm>
        </p:spPr>
        <p:txBody>
          <a:bodyPr/>
          <a:lstStyle/>
          <a:p>
            <a:r>
              <a:rPr lang="en-GB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553613"/>
      </p:ext>
    </p:extLst>
  </p:cSld>
  <p:clrMapOvr>
    <a:masterClrMapping/>
  </p:clrMapOvr>
</p:sld>
</file>

<file path=ppt/theme/theme1.xml><?xml version="1.0" encoding="utf-8"?>
<a:theme xmlns:a="http://schemas.openxmlformats.org/drawingml/2006/main" name="UoS_PinkTemplate">
  <a:themeElements>
    <a:clrScheme name="UoS_Pink">
      <a:dk1>
        <a:srgbClr val="000000"/>
      </a:dk1>
      <a:lt1>
        <a:srgbClr val="FFFFFF"/>
      </a:lt1>
      <a:dk2>
        <a:srgbClr val="652480"/>
      </a:dk2>
      <a:lt2>
        <a:srgbClr val="E4106E"/>
      </a:lt2>
      <a:accent1>
        <a:srgbClr val="E4106E"/>
      </a:accent1>
      <a:accent2>
        <a:srgbClr val="652480"/>
      </a:accent2>
      <a:accent3>
        <a:srgbClr val="162A45"/>
      </a:accent3>
      <a:accent4>
        <a:srgbClr val="EC660D"/>
      </a:accent4>
      <a:accent5>
        <a:srgbClr val="56AF34"/>
      </a:accent5>
      <a:accent6>
        <a:srgbClr val="046666"/>
      </a:accent6>
      <a:hlink>
        <a:srgbClr val="162A45"/>
      </a:hlink>
      <a:folHlink>
        <a:srgbClr val="E4106E"/>
      </a:folHlink>
    </a:clrScheme>
    <a:fontScheme name="Custom 7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UoS_PinkTemplate" id="{A215A909-7E4F-0E4E-A886-5B227934D0FD}" vid="{7E33AA98-9C6F-6B45-9D91-ED05C840DF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3769</TotalTime>
  <Words>2329</Words>
  <Application>Microsoft Macintosh PowerPoint</Application>
  <PresentationFormat>Widescreen</PresentationFormat>
  <Paragraphs>335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Arial Narrow</vt:lpstr>
      <vt:lpstr>Century Gothic</vt:lpstr>
      <vt:lpstr>Consolas</vt:lpstr>
      <vt:lpstr>Courier New</vt:lpstr>
      <vt:lpstr>Lato Extended</vt:lpstr>
      <vt:lpstr>UoS_PinkTemplate</vt:lpstr>
      <vt:lpstr> Dissertation and Viva  </vt:lpstr>
      <vt:lpstr>Our Objectives </vt:lpstr>
      <vt:lpstr>Dissertation </vt:lpstr>
      <vt:lpstr>Assessment 2:  Dissertation – 75% </vt:lpstr>
      <vt:lpstr>Dissertation Template on Canvas </vt:lpstr>
      <vt:lpstr>Dissertation Layout </vt:lpstr>
      <vt:lpstr>References </vt:lpstr>
      <vt:lpstr>Dissertation Structure </vt:lpstr>
      <vt:lpstr>Dissertation Structure – Abstract </vt:lpstr>
      <vt:lpstr>Dissertation Structure – Introduction  </vt:lpstr>
      <vt:lpstr>Dissertation Structure – Literature Review </vt:lpstr>
      <vt:lpstr>Approaching the task of reading</vt:lpstr>
      <vt:lpstr>Reading, thinking and writing critically </vt:lpstr>
      <vt:lpstr>Deciding on your research chapter’s structure</vt:lpstr>
      <vt:lpstr>Funnel!</vt:lpstr>
      <vt:lpstr>Dissertation Structure – Practical Research Work </vt:lpstr>
      <vt:lpstr>Dissertation Structure – Practical Research Work </vt:lpstr>
      <vt:lpstr>Dissertation Structure – Results, Analysis and Evaluation</vt:lpstr>
      <vt:lpstr>Dissertation Structure – Results, Analysis and Evaluation</vt:lpstr>
      <vt:lpstr>Dissertation Structure – Results, Analysis and Evaluation</vt:lpstr>
      <vt:lpstr>Presenting Results – Use of Figures and Code Snippets </vt:lpstr>
      <vt:lpstr>Dissertation Structure – Project Evaluation </vt:lpstr>
      <vt:lpstr>Dissertation Structure – Project Evaluation </vt:lpstr>
      <vt:lpstr>Dissertation Structure – Conclusions and Recommendations </vt:lpstr>
      <vt:lpstr>Appendices </vt:lpstr>
      <vt:lpstr>Questions?</vt:lpstr>
      <vt:lpstr>Viva</vt:lpstr>
      <vt:lpstr>Assignment 3: Viva – 15% </vt:lpstr>
      <vt:lpstr>Assignment 3: Viva – Presentation </vt:lpstr>
      <vt:lpstr>Assignment 3: Viva – Presentation </vt:lpstr>
      <vt:lpstr>Assignment 3: Viva - Demo </vt:lpstr>
      <vt:lpstr>Assignment 3: Viva – Questions </vt:lpstr>
      <vt:lpstr>General Viva Advice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 Clawson</dc:creator>
  <cp:lastModifiedBy>Becky Allen (Staff)</cp:lastModifiedBy>
  <cp:revision>30</cp:revision>
  <dcterms:created xsi:type="dcterms:W3CDTF">2019-09-16T11:35:51Z</dcterms:created>
  <dcterms:modified xsi:type="dcterms:W3CDTF">2024-10-28T15:13:12Z</dcterms:modified>
</cp:coreProperties>
</file>